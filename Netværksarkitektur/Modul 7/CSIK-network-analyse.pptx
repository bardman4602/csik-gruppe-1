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2"/>
  </p:notesMasterIdLst>
  <p:sldIdLst>
    <p:sldId id="256" r:id="rId2"/>
    <p:sldId id="257" r:id="rId3"/>
    <p:sldId id="258" r:id="rId4"/>
    <p:sldId id="295"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gqJAm47PjbPGywHf+Nl93C9Ppo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0C3DD7-B5E3-4673-9DC4-3F0B4CE32F5C}">
  <a:tblStyle styleId="{AF0C3DD7-B5E3-4673-9DC4-3F0B4CE32F5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C601AA46-51A7-41FF-86AA-C1B9CD2E5B7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13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a5482384b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a5482384b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a5482384b6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a5482384b6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g3a5482384b6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a5482384b6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a5482384b6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3a5482384b6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83AFB4"/>
        </a:solidFill>
        <a:effectLst/>
      </p:bgPr>
    </p:bg>
    <p:spTree>
      <p:nvGrpSpPr>
        <p:cNvPr id="1" name="Shape 15"/>
        <p:cNvGrpSpPr/>
        <p:nvPr/>
      </p:nvGrpSpPr>
      <p:grpSpPr>
        <a:xfrm>
          <a:off x="0" y="0"/>
          <a:ext cx="0" cy="0"/>
          <a:chOff x="0" y="0"/>
          <a:chExt cx="0" cy="0"/>
        </a:xfrm>
      </p:grpSpPr>
      <p:sp>
        <p:nvSpPr>
          <p:cNvPr id="16" name="Google Shape;16;p9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Lucida Sans"/>
              <a:buNone/>
              <a:defRPr sz="6000" b="1">
                <a:latin typeface="Lucida Sans"/>
                <a:ea typeface="Lucida Sans"/>
                <a:cs typeface="Lucida Sans"/>
                <a:sym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latin typeface="Lucida Sans"/>
                <a:ea typeface="Lucida Sans"/>
                <a:cs typeface="Lucida Sans"/>
                <a:sym typeface="Lucida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rgbClr val="83AFB4"/>
        </a:solidFill>
        <a:effectLst/>
      </p:bgPr>
    </p:bg>
    <p:spTree>
      <p:nvGrpSpPr>
        <p:cNvPr id="1" name="Shape 21"/>
        <p:cNvGrpSpPr/>
        <p:nvPr/>
      </p:nvGrpSpPr>
      <p:grpSpPr>
        <a:xfrm>
          <a:off x="0" y="0"/>
          <a:ext cx="0" cy="0"/>
          <a:chOff x="0" y="0"/>
          <a:chExt cx="0" cy="0"/>
        </a:xfrm>
      </p:grpSpPr>
      <p:sp>
        <p:nvSpPr>
          <p:cNvPr id="22" name="Google Shape;22;p9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Lucida Sans"/>
              <a:buNone/>
              <a:defRPr>
                <a:solidFill>
                  <a:schemeClr val="lt1"/>
                </a:solidFill>
                <a:latin typeface="Lucida Sans"/>
                <a:ea typeface="Lucida Sans"/>
                <a:cs typeface="Lucida Sans"/>
                <a:sym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Lucida Sans"/>
                <a:ea typeface="Lucida Sans"/>
                <a:cs typeface="Lucida Sans"/>
                <a:sym typeface="Lucida Sans"/>
              </a:defRPr>
            </a:lvl1pPr>
            <a:lvl2pPr marL="914400" lvl="1" indent="-381000" algn="l">
              <a:lnSpc>
                <a:spcPct val="90000"/>
              </a:lnSpc>
              <a:spcBef>
                <a:spcPts val="500"/>
              </a:spcBef>
              <a:spcAft>
                <a:spcPts val="0"/>
              </a:spcAft>
              <a:buClr>
                <a:schemeClr val="dk1"/>
              </a:buClr>
              <a:buSzPts val="2400"/>
              <a:buChar char="•"/>
              <a:defRPr>
                <a:latin typeface="Lucida Sans"/>
                <a:ea typeface="Lucida Sans"/>
                <a:cs typeface="Lucida Sans"/>
                <a:sym typeface="Lucida Sans"/>
              </a:defRPr>
            </a:lvl2pPr>
            <a:lvl3pPr marL="1371600" lvl="2" indent="-355600" algn="l">
              <a:lnSpc>
                <a:spcPct val="90000"/>
              </a:lnSpc>
              <a:spcBef>
                <a:spcPts val="500"/>
              </a:spcBef>
              <a:spcAft>
                <a:spcPts val="0"/>
              </a:spcAft>
              <a:buClr>
                <a:schemeClr val="dk1"/>
              </a:buClr>
              <a:buSzPts val="2000"/>
              <a:buChar char="•"/>
              <a:defRPr>
                <a:latin typeface="Lucida Sans"/>
                <a:ea typeface="Lucida Sans"/>
                <a:cs typeface="Lucida Sans"/>
                <a:sym typeface="Lucida Sans"/>
              </a:defRPr>
            </a:lvl3pPr>
            <a:lvl4pPr marL="1828800" lvl="3" indent="-342900" algn="l">
              <a:lnSpc>
                <a:spcPct val="90000"/>
              </a:lnSpc>
              <a:spcBef>
                <a:spcPts val="500"/>
              </a:spcBef>
              <a:spcAft>
                <a:spcPts val="0"/>
              </a:spcAft>
              <a:buClr>
                <a:schemeClr val="dk1"/>
              </a:buClr>
              <a:buSzPts val="1800"/>
              <a:buChar char="•"/>
              <a:defRPr>
                <a:latin typeface="Lucida Sans"/>
                <a:ea typeface="Lucida Sans"/>
                <a:cs typeface="Lucida Sans"/>
                <a:sym typeface="Lucida Sans"/>
              </a:defRPr>
            </a:lvl4pPr>
            <a:lvl5pPr marL="2286000" lvl="4" indent="-342900" algn="l">
              <a:lnSpc>
                <a:spcPct val="90000"/>
              </a:lnSpc>
              <a:spcBef>
                <a:spcPts val="500"/>
              </a:spcBef>
              <a:spcAft>
                <a:spcPts val="0"/>
              </a:spcAft>
              <a:buClr>
                <a:schemeClr val="dk1"/>
              </a:buClr>
              <a:buSzPts val="1800"/>
              <a:buChar char="•"/>
              <a:defRPr>
                <a:latin typeface="Lucida Sans"/>
                <a:ea typeface="Lucida Sans"/>
                <a:cs typeface="Lucida Sans"/>
                <a:sym typeface="Lucida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solidFill>
          <a:srgbClr val="E0E6E6"/>
        </a:solidFill>
        <a:effectLst/>
      </p:bgPr>
    </p:bg>
    <p:spTree>
      <p:nvGrpSpPr>
        <p:cNvPr id="1" name="Shape 27"/>
        <p:cNvGrpSpPr/>
        <p:nvPr/>
      </p:nvGrpSpPr>
      <p:grpSpPr>
        <a:xfrm>
          <a:off x="0" y="0"/>
          <a:ext cx="0" cy="0"/>
          <a:chOff x="0" y="0"/>
          <a:chExt cx="0" cy="0"/>
        </a:xfrm>
      </p:grpSpPr>
      <p:sp>
        <p:nvSpPr>
          <p:cNvPr id="28" name="Google Shape;28;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Lucida Sans"/>
              <a:buNone/>
              <a:defRPr>
                <a:solidFill>
                  <a:schemeClr val="dk1"/>
                </a:solidFill>
                <a:latin typeface="Lucida Sans"/>
                <a:ea typeface="Lucida Sans"/>
                <a:cs typeface="Lucida Sans"/>
                <a:sym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Lucida Sans"/>
                <a:ea typeface="Lucida Sans"/>
                <a:cs typeface="Lucida Sans"/>
                <a:sym typeface="Lucida Sans"/>
              </a:defRPr>
            </a:lvl1pPr>
            <a:lvl2pPr marL="914400" lvl="1" indent="-381000" algn="l">
              <a:lnSpc>
                <a:spcPct val="90000"/>
              </a:lnSpc>
              <a:spcBef>
                <a:spcPts val="500"/>
              </a:spcBef>
              <a:spcAft>
                <a:spcPts val="0"/>
              </a:spcAft>
              <a:buClr>
                <a:schemeClr val="dk1"/>
              </a:buClr>
              <a:buSzPts val="2400"/>
              <a:buChar char="•"/>
              <a:defRPr>
                <a:latin typeface="Lucida Sans"/>
                <a:ea typeface="Lucida Sans"/>
                <a:cs typeface="Lucida Sans"/>
                <a:sym typeface="Lucida Sans"/>
              </a:defRPr>
            </a:lvl2pPr>
            <a:lvl3pPr marL="1371600" lvl="2" indent="-355600" algn="l">
              <a:lnSpc>
                <a:spcPct val="90000"/>
              </a:lnSpc>
              <a:spcBef>
                <a:spcPts val="500"/>
              </a:spcBef>
              <a:spcAft>
                <a:spcPts val="0"/>
              </a:spcAft>
              <a:buClr>
                <a:schemeClr val="dk1"/>
              </a:buClr>
              <a:buSzPts val="2000"/>
              <a:buChar char="•"/>
              <a:defRPr>
                <a:latin typeface="Lucida Sans"/>
                <a:ea typeface="Lucida Sans"/>
                <a:cs typeface="Lucida Sans"/>
                <a:sym typeface="Lucida Sans"/>
              </a:defRPr>
            </a:lvl3pPr>
            <a:lvl4pPr marL="1828800" lvl="3" indent="-342900" algn="l">
              <a:lnSpc>
                <a:spcPct val="90000"/>
              </a:lnSpc>
              <a:spcBef>
                <a:spcPts val="500"/>
              </a:spcBef>
              <a:spcAft>
                <a:spcPts val="0"/>
              </a:spcAft>
              <a:buClr>
                <a:schemeClr val="dk1"/>
              </a:buClr>
              <a:buSzPts val="1800"/>
              <a:buChar char="•"/>
              <a:defRPr>
                <a:latin typeface="Lucida Sans"/>
                <a:ea typeface="Lucida Sans"/>
                <a:cs typeface="Lucida Sans"/>
                <a:sym typeface="Lucida Sans"/>
              </a:defRPr>
            </a:lvl4pPr>
            <a:lvl5pPr marL="2286000" lvl="4" indent="-342900" algn="l">
              <a:lnSpc>
                <a:spcPct val="90000"/>
              </a:lnSpc>
              <a:spcBef>
                <a:spcPts val="500"/>
              </a:spcBef>
              <a:spcAft>
                <a:spcPts val="0"/>
              </a:spcAft>
              <a:buClr>
                <a:schemeClr val="dk1"/>
              </a:buClr>
              <a:buSzPts val="1800"/>
              <a:buChar char="•"/>
              <a:defRPr>
                <a:latin typeface="Lucida Sans"/>
                <a:ea typeface="Lucida Sans"/>
                <a:cs typeface="Lucida Sans"/>
                <a:sym typeface="Lucida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83AFB4"/>
        </a:solidFill>
        <a:effectLst/>
      </p:bgPr>
    </p:bg>
    <p:spTree>
      <p:nvGrpSpPr>
        <p:cNvPr id="1" name="Shape 33"/>
        <p:cNvGrpSpPr/>
        <p:nvPr/>
      </p:nvGrpSpPr>
      <p:grpSpPr>
        <a:xfrm>
          <a:off x="0" y="0"/>
          <a:ext cx="0" cy="0"/>
          <a:chOff x="0" y="0"/>
          <a:chExt cx="0" cy="0"/>
        </a:xfrm>
      </p:grpSpPr>
      <p:sp>
        <p:nvSpPr>
          <p:cNvPr id="34" name="Google Shape;34;p9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Lucida Sans"/>
              <a:buNone/>
              <a:defRPr sz="6000" b="1">
                <a:latin typeface="Lucida Sans"/>
                <a:ea typeface="Lucida Sans"/>
                <a:cs typeface="Lucida Sans"/>
                <a:sym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9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D8D8D8"/>
              </a:buClr>
              <a:buSzPts val="2400"/>
              <a:buNone/>
              <a:defRPr sz="2400">
                <a:solidFill>
                  <a:srgbClr val="D8D8D8"/>
                </a:solidFill>
                <a:latin typeface="Lucida Sans"/>
                <a:ea typeface="Lucida Sans"/>
                <a:cs typeface="Lucida Sans"/>
                <a:sym typeface="Lucida Sans"/>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83AFB4"/>
        </a:solidFill>
        <a:effectLst/>
      </p:bgPr>
    </p:bg>
    <p:spTree>
      <p:nvGrpSpPr>
        <p:cNvPr id="1" name="Shape 39"/>
        <p:cNvGrpSpPr/>
        <p:nvPr/>
      </p:nvGrpSpPr>
      <p:grpSpPr>
        <a:xfrm>
          <a:off x="0" y="0"/>
          <a:ext cx="0" cy="0"/>
          <a:chOff x="0" y="0"/>
          <a:chExt cx="0" cy="0"/>
        </a:xfrm>
      </p:grpSpPr>
      <p:sp>
        <p:nvSpPr>
          <p:cNvPr id="40" name="Google Shape;40;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9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9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9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9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9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10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p:cSld name="1_Blank">
    <p:bg>
      <p:bgPr>
        <a:solidFill>
          <a:srgbClr val="E0E6E6"/>
        </a:solidFill>
        <a:effectLst/>
      </p:bgPr>
    </p:bg>
    <p:spTree>
      <p:nvGrpSpPr>
        <p:cNvPr id="1" name="Shape 64"/>
        <p:cNvGrpSpPr/>
        <p:nvPr/>
      </p:nvGrpSpPr>
      <p:grpSpPr>
        <a:xfrm>
          <a:off x="0" y="0"/>
          <a:ext cx="0" cy="0"/>
          <a:chOff x="0" y="0"/>
          <a:chExt cx="0" cy="0"/>
        </a:xfrm>
      </p:grpSpPr>
      <p:sp>
        <p:nvSpPr>
          <p:cNvPr id="65" name="Google Shape;65;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sp>
        <p:nvSpPr>
          <p:cNvPr id="69" name="Google Shape;69;p10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0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1" name="Google Shape;71;p10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10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3"/>
          <p:cNvSpPr>
            <a:spLocks noGrp="1"/>
          </p:cNvSpPr>
          <p:nvPr>
            <p:ph type="pic" idx="2"/>
          </p:nvPr>
        </p:nvSpPr>
        <p:spPr>
          <a:xfrm>
            <a:off x="5183188" y="987425"/>
            <a:ext cx="6172200" cy="4873625"/>
          </a:xfrm>
          <a:prstGeom prst="rect">
            <a:avLst/>
          </a:prstGeom>
          <a:noFill/>
          <a:ln>
            <a:noFill/>
          </a:ln>
        </p:spPr>
      </p:sp>
      <p:sp>
        <p:nvSpPr>
          <p:cNvPr id="78" name="Google Shape;78;p10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10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0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10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0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0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0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0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Lucida Sans"/>
              <a:buNone/>
            </a:pPr>
            <a:r>
              <a:rPr lang="en-US"/>
              <a:t>CSIK</a:t>
            </a:r>
            <a:endParaRPr/>
          </a:p>
          <a:p>
            <a:pPr marL="0" lvl="0" indent="0" algn="ctr" rtl="0">
              <a:lnSpc>
                <a:spcPct val="90000"/>
              </a:lnSpc>
              <a:spcBef>
                <a:spcPts val="0"/>
              </a:spcBef>
              <a:spcAft>
                <a:spcPts val="0"/>
              </a:spcAft>
              <a:buClr>
                <a:schemeClr val="dk1"/>
              </a:buClr>
              <a:buSzPts val="6000"/>
              <a:buFont typeface="Lucida Sans"/>
              <a:buNone/>
            </a:pPr>
            <a:r>
              <a:rPr lang="en-US"/>
              <a:t>netværksanalyse</a:t>
            </a:r>
            <a:endParaRPr/>
          </a:p>
        </p:txBody>
      </p:sp>
      <p:sp>
        <p:nvSpPr>
          <p:cNvPr id="99" name="Google Shape;9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2400"/>
              <a:buNone/>
            </a:pPr>
            <a:r>
              <a:rPr lang="en-US"/>
              <a:t>Wireshark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Agenda</a:t>
            </a:r>
            <a:endParaRPr/>
          </a:p>
        </p:txBody>
      </p:sp>
      <p:sp>
        <p:nvSpPr>
          <p:cNvPr id="105" name="Google Shape;105;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indent="-457200"/>
            <a:r>
              <a:rPr lang="da-DK" dirty="0"/>
              <a:t>Intro og genopfriskning</a:t>
            </a:r>
          </a:p>
          <a:p>
            <a:pPr indent="-457200"/>
            <a:r>
              <a:rPr lang="da-DK" dirty="0" err="1"/>
              <a:t>Wireshark</a:t>
            </a:r>
            <a:r>
              <a:rPr lang="da-DK" dirty="0"/>
              <a:t> kort intro</a:t>
            </a:r>
          </a:p>
          <a:p>
            <a:pPr indent="-457200"/>
            <a:r>
              <a:rPr lang="da-DK" dirty="0"/>
              <a:t>Lab </a:t>
            </a:r>
            <a:r>
              <a:rPr lang="da-DK" dirty="0" err="1"/>
              <a:t>opsætnng</a:t>
            </a:r>
            <a:endParaRPr lang="da-DK" dirty="0"/>
          </a:p>
          <a:p>
            <a:pPr indent="-457200"/>
            <a:r>
              <a:rPr lang="da-DK" dirty="0"/>
              <a:t>Gruppe arbejde omkring lab/</a:t>
            </a:r>
            <a:r>
              <a:rPr lang="da-DK" dirty="0" err="1"/>
              <a:t>wireshark</a:t>
            </a:r>
            <a:endParaRPr lang="da-DK" dirty="0"/>
          </a:p>
          <a:p>
            <a:pPr indent="-457200"/>
            <a:r>
              <a:rPr lang="da-DK" dirty="0"/>
              <a:t>Opgaver</a:t>
            </a:r>
          </a:p>
          <a:p>
            <a:pPr marL="0" lvl="0" indent="0" algn="l" rtl="0">
              <a:lnSpc>
                <a:spcPct val="90000"/>
              </a:lnSpc>
              <a:spcBef>
                <a:spcPts val="100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3" name="Freeform: Shape 2">
            <a:extLst>
              <a:ext uri="{FF2B5EF4-FFF2-40B4-BE49-F238E27FC236}">
                <a16:creationId xmlns:a16="http://schemas.microsoft.com/office/drawing/2014/main" id="{072C368B-AD54-0B29-7022-4C4CF9AE3DC5}"/>
              </a:ext>
            </a:extLst>
          </p:cNvPr>
          <p:cNvSpPr/>
          <p:nvPr/>
        </p:nvSpPr>
        <p:spPr>
          <a:xfrm>
            <a:off x="4631799" y="2539179"/>
            <a:ext cx="5022850" cy="82550"/>
          </a:xfrm>
          <a:custGeom>
            <a:avLst/>
            <a:gdLst>
              <a:gd name="connsiteX0" fmla="*/ 0 w 5022850"/>
              <a:gd name="connsiteY0" fmla="*/ 82550 h 82550"/>
              <a:gd name="connsiteX1" fmla="*/ 1708150 w 5022850"/>
              <a:gd name="connsiteY1" fmla="*/ 76200 h 82550"/>
              <a:gd name="connsiteX2" fmla="*/ 1962150 w 5022850"/>
              <a:gd name="connsiteY2" fmla="*/ 69850 h 82550"/>
              <a:gd name="connsiteX3" fmla="*/ 2012950 w 5022850"/>
              <a:gd name="connsiteY3" fmla="*/ 63500 h 82550"/>
              <a:gd name="connsiteX4" fmla="*/ 2895600 w 5022850"/>
              <a:gd name="connsiteY4" fmla="*/ 57150 h 82550"/>
              <a:gd name="connsiteX5" fmla="*/ 3162300 w 5022850"/>
              <a:gd name="connsiteY5" fmla="*/ 38100 h 82550"/>
              <a:gd name="connsiteX6" fmla="*/ 3435350 w 5022850"/>
              <a:gd name="connsiteY6" fmla="*/ 19050 h 82550"/>
              <a:gd name="connsiteX7" fmla="*/ 3651250 w 5022850"/>
              <a:gd name="connsiteY7" fmla="*/ 0 h 82550"/>
              <a:gd name="connsiteX8" fmla="*/ 4102100 w 5022850"/>
              <a:gd name="connsiteY8" fmla="*/ 12700 h 82550"/>
              <a:gd name="connsiteX9" fmla="*/ 4241800 w 5022850"/>
              <a:gd name="connsiteY9" fmla="*/ 25400 h 82550"/>
              <a:gd name="connsiteX10" fmla="*/ 4648200 w 5022850"/>
              <a:gd name="connsiteY10" fmla="*/ 38100 h 82550"/>
              <a:gd name="connsiteX11" fmla="*/ 4800600 w 5022850"/>
              <a:gd name="connsiteY11" fmla="*/ 44450 h 82550"/>
              <a:gd name="connsiteX12" fmla="*/ 5022850 w 5022850"/>
              <a:gd name="connsiteY12" fmla="*/ 57150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2850" h="82550">
                <a:moveTo>
                  <a:pt x="0" y="82550"/>
                </a:moveTo>
                <a:lnTo>
                  <a:pt x="1708150" y="76200"/>
                </a:lnTo>
                <a:cubicBezTo>
                  <a:pt x="1792841" y="75652"/>
                  <a:pt x="1877530" y="73376"/>
                  <a:pt x="1962150" y="69850"/>
                </a:cubicBezTo>
                <a:cubicBezTo>
                  <a:pt x="1979200" y="69140"/>
                  <a:pt x="1995886" y="63732"/>
                  <a:pt x="2012950" y="63500"/>
                </a:cubicBezTo>
                <a:lnTo>
                  <a:pt x="2895600" y="57150"/>
                </a:lnTo>
                <a:cubicBezTo>
                  <a:pt x="3087780" y="33127"/>
                  <a:pt x="2905114" y="53009"/>
                  <a:pt x="3162300" y="38100"/>
                </a:cubicBezTo>
                <a:cubicBezTo>
                  <a:pt x="3253385" y="32820"/>
                  <a:pt x="3344912" y="31108"/>
                  <a:pt x="3435350" y="19050"/>
                </a:cubicBezTo>
                <a:cubicBezTo>
                  <a:pt x="3570519" y="1027"/>
                  <a:pt x="3498613" y="8034"/>
                  <a:pt x="3651250" y="0"/>
                </a:cubicBezTo>
                <a:cubicBezTo>
                  <a:pt x="3768287" y="2544"/>
                  <a:pt x="3970026" y="5153"/>
                  <a:pt x="4102100" y="12700"/>
                </a:cubicBezTo>
                <a:cubicBezTo>
                  <a:pt x="4204718" y="18564"/>
                  <a:pt x="4127919" y="20905"/>
                  <a:pt x="4241800" y="25400"/>
                </a:cubicBezTo>
                <a:lnTo>
                  <a:pt x="4648200" y="38100"/>
                </a:lnTo>
                <a:lnTo>
                  <a:pt x="4800600" y="44450"/>
                </a:lnTo>
                <a:cubicBezTo>
                  <a:pt x="4959192" y="60309"/>
                  <a:pt x="4885056" y="57150"/>
                  <a:pt x="5022850" y="57150"/>
                </a:cubicBezTo>
              </a:path>
            </a:pathLst>
          </a:custGeom>
          <a:noFill/>
          <a:ln w="269875">
            <a:solidFill>
              <a:srgbClr val="FFFF00">
                <a:alpha val="44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Freeform: Shape 4">
            <a:extLst>
              <a:ext uri="{FF2B5EF4-FFF2-40B4-BE49-F238E27FC236}">
                <a16:creationId xmlns:a16="http://schemas.microsoft.com/office/drawing/2014/main" id="{9584B8F2-7105-D654-5C8C-4272E0A53B0B}"/>
              </a:ext>
            </a:extLst>
          </p:cNvPr>
          <p:cNvSpPr/>
          <p:nvPr/>
        </p:nvSpPr>
        <p:spPr>
          <a:xfrm>
            <a:off x="1330530" y="2843783"/>
            <a:ext cx="2419168" cy="103348"/>
          </a:xfrm>
          <a:custGeom>
            <a:avLst/>
            <a:gdLst>
              <a:gd name="connsiteX0" fmla="*/ 0 w 5022850"/>
              <a:gd name="connsiteY0" fmla="*/ 82550 h 82550"/>
              <a:gd name="connsiteX1" fmla="*/ 1708150 w 5022850"/>
              <a:gd name="connsiteY1" fmla="*/ 76200 h 82550"/>
              <a:gd name="connsiteX2" fmla="*/ 1962150 w 5022850"/>
              <a:gd name="connsiteY2" fmla="*/ 69850 h 82550"/>
              <a:gd name="connsiteX3" fmla="*/ 2012950 w 5022850"/>
              <a:gd name="connsiteY3" fmla="*/ 63500 h 82550"/>
              <a:gd name="connsiteX4" fmla="*/ 2895600 w 5022850"/>
              <a:gd name="connsiteY4" fmla="*/ 57150 h 82550"/>
              <a:gd name="connsiteX5" fmla="*/ 3162300 w 5022850"/>
              <a:gd name="connsiteY5" fmla="*/ 38100 h 82550"/>
              <a:gd name="connsiteX6" fmla="*/ 3435350 w 5022850"/>
              <a:gd name="connsiteY6" fmla="*/ 19050 h 82550"/>
              <a:gd name="connsiteX7" fmla="*/ 3651250 w 5022850"/>
              <a:gd name="connsiteY7" fmla="*/ 0 h 82550"/>
              <a:gd name="connsiteX8" fmla="*/ 4102100 w 5022850"/>
              <a:gd name="connsiteY8" fmla="*/ 12700 h 82550"/>
              <a:gd name="connsiteX9" fmla="*/ 4241800 w 5022850"/>
              <a:gd name="connsiteY9" fmla="*/ 25400 h 82550"/>
              <a:gd name="connsiteX10" fmla="*/ 4648200 w 5022850"/>
              <a:gd name="connsiteY10" fmla="*/ 38100 h 82550"/>
              <a:gd name="connsiteX11" fmla="*/ 4800600 w 5022850"/>
              <a:gd name="connsiteY11" fmla="*/ 44450 h 82550"/>
              <a:gd name="connsiteX12" fmla="*/ 5022850 w 5022850"/>
              <a:gd name="connsiteY12" fmla="*/ 57150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2850" h="82550">
                <a:moveTo>
                  <a:pt x="0" y="82550"/>
                </a:moveTo>
                <a:lnTo>
                  <a:pt x="1708150" y="76200"/>
                </a:lnTo>
                <a:cubicBezTo>
                  <a:pt x="1792841" y="75652"/>
                  <a:pt x="1877530" y="73376"/>
                  <a:pt x="1962150" y="69850"/>
                </a:cubicBezTo>
                <a:cubicBezTo>
                  <a:pt x="1979200" y="69140"/>
                  <a:pt x="1995886" y="63732"/>
                  <a:pt x="2012950" y="63500"/>
                </a:cubicBezTo>
                <a:lnTo>
                  <a:pt x="2895600" y="57150"/>
                </a:lnTo>
                <a:cubicBezTo>
                  <a:pt x="3087780" y="33127"/>
                  <a:pt x="2905114" y="53009"/>
                  <a:pt x="3162300" y="38100"/>
                </a:cubicBezTo>
                <a:cubicBezTo>
                  <a:pt x="3253385" y="32820"/>
                  <a:pt x="3344912" y="31108"/>
                  <a:pt x="3435350" y="19050"/>
                </a:cubicBezTo>
                <a:cubicBezTo>
                  <a:pt x="3570519" y="1027"/>
                  <a:pt x="3498613" y="8034"/>
                  <a:pt x="3651250" y="0"/>
                </a:cubicBezTo>
                <a:cubicBezTo>
                  <a:pt x="3768287" y="2544"/>
                  <a:pt x="3970026" y="5153"/>
                  <a:pt x="4102100" y="12700"/>
                </a:cubicBezTo>
                <a:cubicBezTo>
                  <a:pt x="4204718" y="18564"/>
                  <a:pt x="4127919" y="20905"/>
                  <a:pt x="4241800" y="25400"/>
                </a:cubicBezTo>
                <a:lnTo>
                  <a:pt x="4648200" y="38100"/>
                </a:lnTo>
                <a:lnTo>
                  <a:pt x="4800600" y="44450"/>
                </a:lnTo>
                <a:cubicBezTo>
                  <a:pt x="4959192" y="60309"/>
                  <a:pt x="4885056" y="57150"/>
                  <a:pt x="5022850" y="57150"/>
                </a:cubicBezTo>
              </a:path>
            </a:pathLst>
          </a:custGeom>
          <a:noFill/>
          <a:ln w="269875">
            <a:solidFill>
              <a:srgbClr val="FFFF00">
                <a:alpha val="44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6" name="Freeform: Shape 5">
            <a:extLst>
              <a:ext uri="{FF2B5EF4-FFF2-40B4-BE49-F238E27FC236}">
                <a16:creationId xmlns:a16="http://schemas.microsoft.com/office/drawing/2014/main" id="{82025100-034D-9567-21A9-04C006448092}"/>
              </a:ext>
            </a:extLst>
          </p:cNvPr>
          <p:cNvSpPr/>
          <p:nvPr/>
        </p:nvSpPr>
        <p:spPr>
          <a:xfrm>
            <a:off x="2620996" y="4045670"/>
            <a:ext cx="5792799" cy="103348"/>
          </a:xfrm>
          <a:custGeom>
            <a:avLst/>
            <a:gdLst>
              <a:gd name="connsiteX0" fmla="*/ 0 w 5022850"/>
              <a:gd name="connsiteY0" fmla="*/ 82550 h 82550"/>
              <a:gd name="connsiteX1" fmla="*/ 1708150 w 5022850"/>
              <a:gd name="connsiteY1" fmla="*/ 76200 h 82550"/>
              <a:gd name="connsiteX2" fmla="*/ 1962150 w 5022850"/>
              <a:gd name="connsiteY2" fmla="*/ 69850 h 82550"/>
              <a:gd name="connsiteX3" fmla="*/ 2012950 w 5022850"/>
              <a:gd name="connsiteY3" fmla="*/ 63500 h 82550"/>
              <a:gd name="connsiteX4" fmla="*/ 2895600 w 5022850"/>
              <a:gd name="connsiteY4" fmla="*/ 57150 h 82550"/>
              <a:gd name="connsiteX5" fmla="*/ 3162300 w 5022850"/>
              <a:gd name="connsiteY5" fmla="*/ 38100 h 82550"/>
              <a:gd name="connsiteX6" fmla="*/ 3435350 w 5022850"/>
              <a:gd name="connsiteY6" fmla="*/ 19050 h 82550"/>
              <a:gd name="connsiteX7" fmla="*/ 3651250 w 5022850"/>
              <a:gd name="connsiteY7" fmla="*/ 0 h 82550"/>
              <a:gd name="connsiteX8" fmla="*/ 4102100 w 5022850"/>
              <a:gd name="connsiteY8" fmla="*/ 12700 h 82550"/>
              <a:gd name="connsiteX9" fmla="*/ 4241800 w 5022850"/>
              <a:gd name="connsiteY9" fmla="*/ 25400 h 82550"/>
              <a:gd name="connsiteX10" fmla="*/ 4648200 w 5022850"/>
              <a:gd name="connsiteY10" fmla="*/ 38100 h 82550"/>
              <a:gd name="connsiteX11" fmla="*/ 4800600 w 5022850"/>
              <a:gd name="connsiteY11" fmla="*/ 44450 h 82550"/>
              <a:gd name="connsiteX12" fmla="*/ 5022850 w 5022850"/>
              <a:gd name="connsiteY12" fmla="*/ 57150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2850" h="82550">
                <a:moveTo>
                  <a:pt x="0" y="82550"/>
                </a:moveTo>
                <a:lnTo>
                  <a:pt x="1708150" y="76200"/>
                </a:lnTo>
                <a:cubicBezTo>
                  <a:pt x="1792841" y="75652"/>
                  <a:pt x="1877530" y="73376"/>
                  <a:pt x="1962150" y="69850"/>
                </a:cubicBezTo>
                <a:cubicBezTo>
                  <a:pt x="1979200" y="69140"/>
                  <a:pt x="1995886" y="63732"/>
                  <a:pt x="2012950" y="63500"/>
                </a:cubicBezTo>
                <a:lnTo>
                  <a:pt x="2895600" y="57150"/>
                </a:lnTo>
                <a:cubicBezTo>
                  <a:pt x="3087780" y="33127"/>
                  <a:pt x="2905114" y="53009"/>
                  <a:pt x="3162300" y="38100"/>
                </a:cubicBezTo>
                <a:cubicBezTo>
                  <a:pt x="3253385" y="32820"/>
                  <a:pt x="3344912" y="31108"/>
                  <a:pt x="3435350" y="19050"/>
                </a:cubicBezTo>
                <a:cubicBezTo>
                  <a:pt x="3570519" y="1027"/>
                  <a:pt x="3498613" y="8034"/>
                  <a:pt x="3651250" y="0"/>
                </a:cubicBezTo>
                <a:cubicBezTo>
                  <a:pt x="3768287" y="2544"/>
                  <a:pt x="3970026" y="5153"/>
                  <a:pt x="4102100" y="12700"/>
                </a:cubicBezTo>
                <a:cubicBezTo>
                  <a:pt x="4204718" y="18564"/>
                  <a:pt x="4127919" y="20905"/>
                  <a:pt x="4241800" y="25400"/>
                </a:cubicBezTo>
                <a:lnTo>
                  <a:pt x="4648200" y="38100"/>
                </a:lnTo>
                <a:lnTo>
                  <a:pt x="4800600" y="44450"/>
                </a:lnTo>
                <a:cubicBezTo>
                  <a:pt x="4959192" y="60309"/>
                  <a:pt x="4885056" y="57150"/>
                  <a:pt x="5022850" y="57150"/>
                </a:cubicBezTo>
              </a:path>
            </a:pathLst>
          </a:custGeom>
          <a:noFill/>
          <a:ln w="269875">
            <a:solidFill>
              <a:srgbClr val="FFFF00">
                <a:alpha val="44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Freeform: Shape 6">
            <a:extLst>
              <a:ext uri="{FF2B5EF4-FFF2-40B4-BE49-F238E27FC236}">
                <a16:creationId xmlns:a16="http://schemas.microsoft.com/office/drawing/2014/main" id="{6E8628A8-3719-F4EB-EBA2-2E607A271055}"/>
              </a:ext>
            </a:extLst>
          </p:cNvPr>
          <p:cNvSpPr/>
          <p:nvPr/>
        </p:nvSpPr>
        <p:spPr>
          <a:xfrm>
            <a:off x="2003447" y="5572959"/>
            <a:ext cx="3601365" cy="170000"/>
          </a:xfrm>
          <a:custGeom>
            <a:avLst/>
            <a:gdLst>
              <a:gd name="connsiteX0" fmla="*/ 0 w 5022850"/>
              <a:gd name="connsiteY0" fmla="*/ 82550 h 82550"/>
              <a:gd name="connsiteX1" fmla="*/ 1708150 w 5022850"/>
              <a:gd name="connsiteY1" fmla="*/ 76200 h 82550"/>
              <a:gd name="connsiteX2" fmla="*/ 1962150 w 5022850"/>
              <a:gd name="connsiteY2" fmla="*/ 69850 h 82550"/>
              <a:gd name="connsiteX3" fmla="*/ 2012950 w 5022850"/>
              <a:gd name="connsiteY3" fmla="*/ 63500 h 82550"/>
              <a:gd name="connsiteX4" fmla="*/ 2895600 w 5022850"/>
              <a:gd name="connsiteY4" fmla="*/ 57150 h 82550"/>
              <a:gd name="connsiteX5" fmla="*/ 3162300 w 5022850"/>
              <a:gd name="connsiteY5" fmla="*/ 38100 h 82550"/>
              <a:gd name="connsiteX6" fmla="*/ 3435350 w 5022850"/>
              <a:gd name="connsiteY6" fmla="*/ 19050 h 82550"/>
              <a:gd name="connsiteX7" fmla="*/ 3651250 w 5022850"/>
              <a:gd name="connsiteY7" fmla="*/ 0 h 82550"/>
              <a:gd name="connsiteX8" fmla="*/ 4102100 w 5022850"/>
              <a:gd name="connsiteY8" fmla="*/ 12700 h 82550"/>
              <a:gd name="connsiteX9" fmla="*/ 4241800 w 5022850"/>
              <a:gd name="connsiteY9" fmla="*/ 25400 h 82550"/>
              <a:gd name="connsiteX10" fmla="*/ 4648200 w 5022850"/>
              <a:gd name="connsiteY10" fmla="*/ 38100 h 82550"/>
              <a:gd name="connsiteX11" fmla="*/ 4800600 w 5022850"/>
              <a:gd name="connsiteY11" fmla="*/ 44450 h 82550"/>
              <a:gd name="connsiteX12" fmla="*/ 5022850 w 5022850"/>
              <a:gd name="connsiteY12" fmla="*/ 57150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2850" h="82550">
                <a:moveTo>
                  <a:pt x="0" y="82550"/>
                </a:moveTo>
                <a:lnTo>
                  <a:pt x="1708150" y="76200"/>
                </a:lnTo>
                <a:cubicBezTo>
                  <a:pt x="1792841" y="75652"/>
                  <a:pt x="1877530" y="73376"/>
                  <a:pt x="1962150" y="69850"/>
                </a:cubicBezTo>
                <a:cubicBezTo>
                  <a:pt x="1979200" y="69140"/>
                  <a:pt x="1995886" y="63732"/>
                  <a:pt x="2012950" y="63500"/>
                </a:cubicBezTo>
                <a:lnTo>
                  <a:pt x="2895600" y="57150"/>
                </a:lnTo>
                <a:cubicBezTo>
                  <a:pt x="3087780" y="33127"/>
                  <a:pt x="2905114" y="53009"/>
                  <a:pt x="3162300" y="38100"/>
                </a:cubicBezTo>
                <a:cubicBezTo>
                  <a:pt x="3253385" y="32820"/>
                  <a:pt x="3344912" y="31108"/>
                  <a:pt x="3435350" y="19050"/>
                </a:cubicBezTo>
                <a:cubicBezTo>
                  <a:pt x="3570519" y="1027"/>
                  <a:pt x="3498613" y="8034"/>
                  <a:pt x="3651250" y="0"/>
                </a:cubicBezTo>
                <a:cubicBezTo>
                  <a:pt x="3768287" y="2544"/>
                  <a:pt x="3970026" y="5153"/>
                  <a:pt x="4102100" y="12700"/>
                </a:cubicBezTo>
                <a:cubicBezTo>
                  <a:pt x="4204718" y="18564"/>
                  <a:pt x="4127919" y="20905"/>
                  <a:pt x="4241800" y="25400"/>
                </a:cubicBezTo>
                <a:lnTo>
                  <a:pt x="4648200" y="38100"/>
                </a:lnTo>
                <a:lnTo>
                  <a:pt x="4800600" y="44450"/>
                </a:lnTo>
                <a:cubicBezTo>
                  <a:pt x="4959192" y="60309"/>
                  <a:pt x="4885056" y="57150"/>
                  <a:pt x="5022850" y="57150"/>
                </a:cubicBezTo>
              </a:path>
            </a:pathLst>
          </a:custGeom>
          <a:noFill/>
          <a:ln w="269875">
            <a:solidFill>
              <a:srgbClr val="FFFF00">
                <a:alpha val="44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11" name="Google Shape;111;g3a5482384b6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err="1"/>
              <a:t>Hvorfor</a:t>
            </a:r>
            <a:r>
              <a:rPr lang="en-US" dirty="0"/>
              <a:t>? (</a:t>
            </a:r>
            <a:r>
              <a:rPr lang="en-US" dirty="0" err="1"/>
              <a:t>hvad</a:t>
            </a:r>
            <a:r>
              <a:rPr lang="en-US" dirty="0"/>
              <a:t> </a:t>
            </a:r>
            <a:r>
              <a:rPr lang="en-US" dirty="0" err="1"/>
              <a:t>siger</a:t>
            </a:r>
            <a:r>
              <a:rPr lang="en-US" dirty="0"/>
              <a:t> </a:t>
            </a:r>
            <a:r>
              <a:rPr lang="en-US" dirty="0" err="1"/>
              <a:t>studieordningen</a:t>
            </a:r>
            <a:r>
              <a:rPr lang="en-US" dirty="0"/>
              <a:t>)</a:t>
            </a:r>
            <a:endParaRPr dirty="0"/>
          </a:p>
        </p:txBody>
      </p:sp>
      <p:sp>
        <p:nvSpPr>
          <p:cNvPr id="112" name="Google Shape;112;g3a5482384b6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l" rtl="0">
              <a:spcBef>
                <a:spcPts val="1000"/>
              </a:spcBef>
              <a:spcAft>
                <a:spcPts val="0"/>
              </a:spcAft>
              <a:buNone/>
            </a:pPr>
            <a:r>
              <a:rPr lang="en-US" dirty="0"/>
              <a:t>Den </a:t>
            </a:r>
            <a:r>
              <a:rPr lang="en-US" dirty="0" err="1"/>
              <a:t>studerende</a:t>
            </a:r>
            <a:r>
              <a:rPr lang="en-US" dirty="0"/>
              <a:t> </a:t>
            </a:r>
            <a:r>
              <a:rPr lang="en-US" dirty="0" err="1"/>
              <a:t>har</a:t>
            </a:r>
            <a:r>
              <a:rPr lang="en-US" dirty="0"/>
              <a:t>: </a:t>
            </a:r>
            <a:endParaRPr dirty="0"/>
          </a:p>
          <a:p>
            <a:pPr marL="457200" lvl="0" indent="-342900" algn="l" rtl="0">
              <a:spcBef>
                <a:spcPts val="1000"/>
              </a:spcBef>
              <a:spcAft>
                <a:spcPts val="0"/>
              </a:spcAft>
              <a:buSzPts val="1800"/>
              <a:buChar char="•"/>
            </a:pPr>
            <a:r>
              <a:rPr lang="en-US" dirty="0" err="1"/>
              <a:t>forståelse</a:t>
            </a:r>
            <a:r>
              <a:rPr lang="en-US" dirty="0"/>
              <a:t> for </a:t>
            </a:r>
            <a:r>
              <a:rPr lang="en-US" dirty="0" err="1"/>
              <a:t>praksis</a:t>
            </a:r>
            <a:r>
              <a:rPr lang="en-US" dirty="0"/>
              <a:t> </a:t>
            </a:r>
            <a:r>
              <a:rPr lang="en-US" dirty="0" err="1"/>
              <a:t>og</a:t>
            </a:r>
            <a:r>
              <a:rPr lang="en-US" dirty="0"/>
              <a:t> </a:t>
            </a:r>
            <a:r>
              <a:rPr lang="en-US" b="1" i="1" dirty="0" err="1"/>
              <a:t>anvendt</a:t>
            </a:r>
            <a:r>
              <a:rPr lang="en-US" b="1" i="1" dirty="0"/>
              <a:t> </a:t>
            </a:r>
            <a:r>
              <a:rPr lang="en-US" b="1" i="1" dirty="0" err="1"/>
              <a:t>teori</a:t>
            </a:r>
            <a:r>
              <a:rPr lang="en-US" b="1" i="1" dirty="0"/>
              <a:t> </a:t>
            </a:r>
            <a:r>
              <a:rPr lang="en-US" b="1" i="1" dirty="0" err="1"/>
              <a:t>og</a:t>
            </a:r>
            <a:r>
              <a:rPr lang="en-US" b="1" i="1" dirty="0"/>
              <a:t> </a:t>
            </a:r>
            <a:r>
              <a:rPr lang="en-US" b="1" i="1" dirty="0" err="1"/>
              <a:t>metode</a:t>
            </a:r>
            <a:r>
              <a:rPr lang="en-US" b="1" i="1" dirty="0"/>
              <a:t> </a:t>
            </a:r>
            <a:r>
              <a:rPr lang="en-US" b="1" i="1" dirty="0" err="1"/>
              <a:t>inden</a:t>
            </a:r>
            <a:r>
              <a:rPr lang="en-US" b="1" i="1" dirty="0"/>
              <a:t> for </a:t>
            </a:r>
            <a:r>
              <a:rPr lang="en-US" b="1" i="1" dirty="0" err="1"/>
              <a:t>netværksanalyse</a:t>
            </a:r>
            <a:r>
              <a:rPr lang="en-US" dirty="0"/>
              <a:t> </a:t>
            </a:r>
            <a:r>
              <a:rPr lang="en-US" dirty="0" err="1"/>
              <a:t>og</a:t>
            </a:r>
            <a:r>
              <a:rPr lang="en-US" dirty="0"/>
              <a:t> </a:t>
            </a:r>
            <a:r>
              <a:rPr lang="en-US" dirty="0" err="1"/>
              <a:t>kan</a:t>
            </a:r>
            <a:r>
              <a:rPr lang="en-US" dirty="0"/>
              <a:t> </a:t>
            </a:r>
            <a:r>
              <a:rPr lang="en-US" dirty="0" err="1"/>
              <a:t>reflektere</a:t>
            </a:r>
            <a:r>
              <a:rPr lang="en-US" dirty="0"/>
              <a:t> over </a:t>
            </a:r>
            <a:r>
              <a:rPr lang="en-US" dirty="0" err="1"/>
              <a:t>forskellige</a:t>
            </a:r>
            <a:r>
              <a:rPr lang="en-US" dirty="0"/>
              <a:t> </a:t>
            </a:r>
            <a:r>
              <a:rPr lang="en-US" dirty="0" err="1"/>
              <a:t>sikkerhedsudfordringer</a:t>
            </a:r>
            <a:r>
              <a:rPr lang="en-US" dirty="0"/>
              <a:t> </a:t>
            </a:r>
            <a:r>
              <a:rPr lang="en-US" dirty="0" err="1"/>
              <a:t>i</a:t>
            </a:r>
            <a:r>
              <a:rPr lang="en-US" dirty="0"/>
              <a:t> </a:t>
            </a:r>
            <a:r>
              <a:rPr lang="en-US" dirty="0" err="1"/>
              <a:t>netværk</a:t>
            </a:r>
            <a:endParaRPr dirty="0"/>
          </a:p>
          <a:p>
            <a:pPr marL="0" lvl="0" indent="0" algn="l" rtl="0">
              <a:spcBef>
                <a:spcPts val="1000"/>
              </a:spcBef>
              <a:spcAft>
                <a:spcPts val="0"/>
              </a:spcAft>
              <a:buNone/>
            </a:pPr>
            <a:r>
              <a:rPr lang="en-US" dirty="0"/>
              <a:t>Den </a:t>
            </a:r>
            <a:r>
              <a:rPr lang="en-US" dirty="0" err="1"/>
              <a:t>studerende</a:t>
            </a:r>
            <a:r>
              <a:rPr lang="en-US" dirty="0"/>
              <a:t> </a:t>
            </a:r>
            <a:r>
              <a:rPr lang="en-US" dirty="0" err="1"/>
              <a:t>kan</a:t>
            </a:r>
            <a:r>
              <a:rPr lang="en-US" dirty="0"/>
              <a:t>: </a:t>
            </a:r>
            <a:endParaRPr dirty="0"/>
          </a:p>
          <a:p>
            <a:pPr marL="457200" lvl="0" indent="-342900" algn="l" rtl="0">
              <a:spcBef>
                <a:spcPts val="1000"/>
              </a:spcBef>
              <a:spcAft>
                <a:spcPts val="0"/>
              </a:spcAft>
              <a:buSzPts val="1800"/>
              <a:buChar char="•"/>
            </a:pPr>
            <a:r>
              <a:rPr lang="en-US" dirty="0" err="1"/>
              <a:t>anvende</a:t>
            </a:r>
            <a:r>
              <a:rPr lang="en-US" dirty="0"/>
              <a:t> </a:t>
            </a:r>
            <a:r>
              <a:rPr lang="en-US" b="1" i="1" dirty="0" err="1"/>
              <a:t>metoder</a:t>
            </a:r>
            <a:r>
              <a:rPr lang="en-US" b="1" i="1" dirty="0"/>
              <a:t> </a:t>
            </a:r>
            <a:r>
              <a:rPr lang="en-US" b="1" i="1" dirty="0" err="1"/>
              <a:t>og</a:t>
            </a:r>
            <a:r>
              <a:rPr lang="en-US" b="1" i="1" dirty="0"/>
              <a:t> </a:t>
            </a:r>
            <a:r>
              <a:rPr lang="en-US" b="1" i="1" dirty="0" err="1"/>
              <a:t>redskaber</a:t>
            </a:r>
            <a:r>
              <a:rPr lang="en-US" b="1" i="1" dirty="0"/>
              <a:t> </a:t>
            </a:r>
            <a:r>
              <a:rPr lang="en-US" b="1" i="1" dirty="0" err="1"/>
              <a:t>til</a:t>
            </a:r>
            <a:r>
              <a:rPr lang="en-US" b="1" i="1" dirty="0"/>
              <a:t> </a:t>
            </a:r>
            <a:r>
              <a:rPr lang="en-US" b="1" i="1" dirty="0" err="1"/>
              <a:t>netværksanalyse</a:t>
            </a:r>
            <a:r>
              <a:rPr lang="en-US" dirty="0"/>
              <a:t> </a:t>
            </a:r>
            <a:r>
              <a:rPr lang="en-US" dirty="0" err="1"/>
              <a:t>og</a:t>
            </a:r>
            <a:r>
              <a:rPr lang="en-US" dirty="0"/>
              <a:t> </a:t>
            </a:r>
            <a:r>
              <a:rPr lang="en-US" dirty="0" err="1"/>
              <a:t>mestre</a:t>
            </a:r>
            <a:r>
              <a:rPr lang="en-US" dirty="0"/>
              <a:t> </a:t>
            </a:r>
            <a:r>
              <a:rPr lang="en-US" dirty="0" err="1"/>
              <a:t>opsætning</a:t>
            </a:r>
            <a:r>
              <a:rPr lang="en-US" dirty="0"/>
              <a:t>, </a:t>
            </a:r>
            <a:r>
              <a:rPr lang="en-US" dirty="0" err="1"/>
              <a:t>fejlfinding</a:t>
            </a:r>
            <a:r>
              <a:rPr lang="en-US" dirty="0"/>
              <a:t> </a:t>
            </a:r>
            <a:r>
              <a:rPr lang="en-US" dirty="0" err="1"/>
              <a:t>og</a:t>
            </a:r>
            <a:r>
              <a:rPr lang="en-US" dirty="0"/>
              <a:t> </a:t>
            </a:r>
            <a:r>
              <a:rPr lang="en-US" dirty="0" err="1"/>
              <a:t>tiltag</a:t>
            </a:r>
            <a:r>
              <a:rPr lang="en-US" dirty="0"/>
              <a:t> </a:t>
            </a:r>
            <a:r>
              <a:rPr lang="en-US" dirty="0" err="1"/>
              <a:t>til</a:t>
            </a:r>
            <a:r>
              <a:rPr lang="en-US" dirty="0"/>
              <a:t> </a:t>
            </a:r>
            <a:r>
              <a:rPr lang="en-US" dirty="0" err="1"/>
              <a:t>sikring</a:t>
            </a:r>
            <a:r>
              <a:rPr lang="en-US" dirty="0"/>
              <a:t> </a:t>
            </a:r>
            <a:r>
              <a:rPr lang="en-US" dirty="0" err="1"/>
              <a:t>af</a:t>
            </a:r>
            <a:r>
              <a:rPr lang="en-US" dirty="0"/>
              <a:t> </a:t>
            </a:r>
            <a:r>
              <a:rPr lang="en-US" dirty="0" err="1"/>
              <a:t>mindre</a:t>
            </a:r>
            <a:r>
              <a:rPr lang="en-US" dirty="0"/>
              <a:t> </a:t>
            </a:r>
            <a:r>
              <a:rPr lang="en-US" dirty="0" err="1"/>
              <a:t>netværk</a:t>
            </a:r>
            <a:endParaRPr dirty="0"/>
          </a:p>
          <a:p>
            <a:pPr marL="0" lvl="0" indent="0" algn="l" rtl="0">
              <a:spcBef>
                <a:spcPts val="1000"/>
              </a:spcBef>
              <a:spcAft>
                <a:spcPts val="0"/>
              </a:spcAft>
              <a:buNone/>
            </a:pPr>
            <a:r>
              <a:rPr lang="en-US" dirty="0"/>
              <a:t>Den </a:t>
            </a:r>
            <a:r>
              <a:rPr lang="en-US" dirty="0" err="1"/>
              <a:t>studerende</a:t>
            </a:r>
            <a:r>
              <a:rPr lang="en-US" dirty="0"/>
              <a:t> </a:t>
            </a:r>
            <a:r>
              <a:rPr lang="en-US" dirty="0" err="1"/>
              <a:t>kan</a:t>
            </a:r>
            <a:r>
              <a:rPr lang="en-US" dirty="0"/>
              <a:t>: </a:t>
            </a:r>
            <a:endParaRPr dirty="0"/>
          </a:p>
          <a:p>
            <a:pPr marL="457200" lvl="0" indent="-342900" algn="l" rtl="0">
              <a:spcBef>
                <a:spcPts val="1000"/>
              </a:spcBef>
              <a:spcAft>
                <a:spcPts val="0"/>
              </a:spcAft>
              <a:buSzPts val="1800"/>
              <a:buChar char="•"/>
            </a:pPr>
            <a:r>
              <a:rPr lang="en-US" dirty="0" err="1"/>
              <a:t>håndtere</a:t>
            </a:r>
            <a:r>
              <a:rPr lang="en-US" dirty="0"/>
              <a:t> </a:t>
            </a:r>
            <a:r>
              <a:rPr lang="en-US" dirty="0" err="1"/>
              <a:t>komplekse</a:t>
            </a:r>
            <a:r>
              <a:rPr lang="en-US" dirty="0"/>
              <a:t> </a:t>
            </a:r>
            <a:r>
              <a:rPr lang="en-US" dirty="0" err="1"/>
              <a:t>og</a:t>
            </a:r>
            <a:r>
              <a:rPr lang="en-US" dirty="0"/>
              <a:t> </a:t>
            </a:r>
            <a:r>
              <a:rPr lang="en-US" dirty="0" err="1"/>
              <a:t>udviklingsorienterede</a:t>
            </a:r>
            <a:r>
              <a:rPr lang="en-US" dirty="0"/>
              <a:t> </a:t>
            </a:r>
            <a:r>
              <a:rPr lang="en-US" dirty="0" err="1"/>
              <a:t>situationer</a:t>
            </a:r>
            <a:r>
              <a:rPr lang="en-US" dirty="0"/>
              <a:t> </a:t>
            </a:r>
            <a:r>
              <a:rPr lang="en-US" dirty="0" err="1"/>
              <a:t>i</a:t>
            </a:r>
            <a:r>
              <a:rPr lang="en-US" dirty="0"/>
              <a:t> </a:t>
            </a:r>
            <a:r>
              <a:rPr lang="en-US" dirty="0" err="1"/>
              <a:t>forbindelse</a:t>
            </a:r>
            <a:r>
              <a:rPr lang="en-US" dirty="0"/>
              <a:t> med </a:t>
            </a:r>
            <a:r>
              <a:rPr lang="en-US" b="1" i="1" dirty="0" err="1"/>
              <a:t>analyse</a:t>
            </a:r>
            <a:r>
              <a:rPr lang="en-US" b="1" i="1" dirty="0"/>
              <a:t> </a:t>
            </a:r>
            <a:r>
              <a:rPr lang="en-US" b="1" i="1" dirty="0" err="1"/>
              <a:t>af</a:t>
            </a:r>
            <a:r>
              <a:rPr lang="en-US" b="1" i="1" dirty="0"/>
              <a:t> </a:t>
            </a:r>
            <a:r>
              <a:rPr lang="en-US" b="1" i="1" dirty="0" err="1"/>
              <a:t>netværkstrafik</a:t>
            </a:r>
            <a:r>
              <a:rPr lang="en-US" dirty="0"/>
              <a:t> med </a:t>
            </a:r>
            <a:r>
              <a:rPr lang="en-US" dirty="0" err="1"/>
              <a:t>henblik</a:t>
            </a:r>
            <a:r>
              <a:rPr lang="en-US" dirty="0"/>
              <a:t> på at </a:t>
            </a:r>
            <a:r>
              <a:rPr lang="en-US" dirty="0" err="1"/>
              <a:t>forebygge</a:t>
            </a:r>
            <a:r>
              <a:rPr lang="en-US" dirty="0"/>
              <a:t> </a:t>
            </a:r>
            <a:r>
              <a:rPr lang="en-US" dirty="0" err="1"/>
              <a:t>eller</a:t>
            </a:r>
            <a:r>
              <a:rPr lang="en-US" dirty="0"/>
              <a:t> </a:t>
            </a:r>
            <a:r>
              <a:rPr lang="en-US" dirty="0" err="1"/>
              <a:t>afbøde</a:t>
            </a:r>
            <a:r>
              <a:rPr lang="en-US" dirty="0"/>
              <a:t> </a:t>
            </a:r>
            <a:r>
              <a:rPr lang="en-US" dirty="0" err="1"/>
              <a:t>angreb</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D87302-7581-CFD0-29A8-BEB4C9B3DD1E}"/>
              </a:ext>
            </a:extLst>
          </p:cNvPr>
          <p:cNvSpPr>
            <a:spLocks noGrp="1"/>
          </p:cNvSpPr>
          <p:nvPr>
            <p:ph type="ctrTitle"/>
          </p:nvPr>
        </p:nvSpPr>
        <p:spPr/>
        <p:txBody>
          <a:bodyPr/>
          <a:lstStyle/>
          <a:p>
            <a:r>
              <a:rPr lang="da-DK" dirty="0"/>
              <a:t>Lidt genopfriskning</a:t>
            </a:r>
          </a:p>
        </p:txBody>
      </p:sp>
    </p:spTree>
    <p:extLst>
      <p:ext uri="{BB962C8B-B14F-4D97-AF65-F5344CB8AC3E}">
        <p14:creationId xmlns:p14="http://schemas.microsoft.com/office/powerpoint/2010/main" val="4147545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TCP/IP Networking Model</a:t>
            </a:r>
            <a:endParaRPr/>
          </a:p>
        </p:txBody>
      </p:sp>
      <p:pic>
        <p:nvPicPr>
          <p:cNvPr id="118" name="Google Shape;118;p9"/>
          <p:cNvPicPr preferRelativeResize="0">
            <a:picLocks noGrp="1"/>
          </p:cNvPicPr>
          <p:nvPr>
            <p:ph type="body" idx="1"/>
          </p:nvPr>
        </p:nvPicPr>
        <p:blipFill rotWithShape="1">
          <a:blip r:embed="rId3">
            <a:alphaModFix/>
          </a:blip>
          <a:srcRect/>
          <a:stretch/>
        </p:blipFill>
        <p:spPr>
          <a:xfrm>
            <a:off x="2133600" y="1981200"/>
            <a:ext cx="6781800" cy="2762276"/>
          </a:xfrm>
          <a:prstGeom prst="rect">
            <a:avLst/>
          </a:prstGeom>
          <a:noFill/>
          <a:ln>
            <a:noFill/>
          </a:ln>
        </p:spPr>
      </p:pic>
      <p:sp>
        <p:nvSpPr>
          <p:cNvPr id="119" name="Google Shape;119;p9"/>
          <p:cNvSpPr txBox="1"/>
          <p:nvPr/>
        </p:nvSpPr>
        <p:spPr>
          <a:xfrm>
            <a:off x="2286000" y="5181601"/>
            <a:ext cx="71628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none" strike="noStrike" cap="none">
                <a:solidFill>
                  <a:schemeClr val="dk1"/>
                </a:solidFill>
                <a:latin typeface="Calibri"/>
                <a:ea typeface="Calibri"/>
                <a:cs typeface="Calibri"/>
                <a:sym typeface="Calibri"/>
              </a:rPr>
              <a:t>Historical Progression: Proprietary Models to Open TCP/IP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The Two TCP/IP Networking Models</a:t>
            </a:r>
            <a:endParaRPr/>
          </a:p>
        </p:txBody>
      </p:sp>
      <p:pic>
        <p:nvPicPr>
          <p:cNvPr id="125" name="Google Shape;125;p10"/>
          <p:cNvPicPr preferRelativeResize="0">
            <a:picLocks noGrp="1"/>
          </p:cNvPicPr>
          <p:nvPr>
            <p:ph type="body" idx="1"/>
          </p:nvPr>
        </p:nvPicPr>
        <p:blipFill rotWithShape="1">
          <a:blip r:embed="rId3">
            <a:alphaModFix/>
          </a:blip>
          <a:srcRect/>
          <a:stretch/>
        </p:blipFill>
        <p:spPr>
          <a:xfrm>
            <a:off x="1524000" y="2514600"/>
            <a:ext cx="9144000" cy="358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TCP/IP Architectural Model and Example Protocols</a:t>
            </a:r>
            <a:endParaRPr/>
          </a:p>
        </p:txBody>
      </p:sp>
      <p:graphicFrame>
        <p:nvGraphicFramePr>
          <p:cNvPr id="131" name="Google Shape;131;p11"/>
          <p:cNvGraphicFramePr/>
          <p:nvPr/>
        </p:nvGraphicFramePr>
        <p:xfrm>
          <a:off x="1828800" y="2438400"/>
          <a:ext cx="8458200" cy="3931970"/>
        </p:xfrm>
        <a:graphic>
          <a:graphicData uri="http://schemas.openxmlformats.org/drawingml/2006/table">
            <a:tbl>
              <a:tblPr firstRow="1" bandRow="1">
                <a:noFill/>
                <a:tableStyleId>{AF0C3DD7-B5E3-4673-9DC4-3F0B4CE32F5C}</a:tableStyleId>
              </a:tblPr>
              <a:tblGrid>
                <a:gridCol w="45720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777250">
                <a:tc>
                  <a:txBody>
                    <a:bodyPr/>
                    <a:lstStyle/>
                    <a:p>
                      <a:pPr marL="0" marR="0" lvl="0" indent="0" algn="l" rtl="0">
                        <a:spcBef>
                          <a:spcPts val="0"/>
                        </a:spcBef>
                        <a:spcAft>
                          <a:spcPts val="0"/>
                        </a:spcAft>
                        <a:buNone/>
                      </a:pPr>
                      <a:r>
                        <a:rPr lang="en-US" sz="2400"/>
                        <a:t>TCP/IP Architecture Layer</a:t>
                      </a:r>
                      <a:endParaRPr sz="2400"/>
                    </a:p>
                  </a:txBody>
                  <a:tcPr marL="91450" marR="91450" marT="45725" marB="45725"/>
                </a:tc>
                <a:tc>
                  <a:txBody>
                    <a:bodyPr/>
                    <a:lstStyle/>
                    <a:p>
                      <a:pPr marL="0" marR="0" lvl="0" indent="0" algn="l" rtl="0">
                        <a:spcBef>
                          <a:spcPts val="0"/>
                        </a:spcBef>
                        <a:spcAft>
                          <a:spcPts val="0"/>
                        </a:spcAft>
                        <a:buNone/>
                      </a:pPr>
                      <a:r>
                        <a:rPr lang="en-US" sz="2400"/>
                        <a:t>Example Protocols</a:t>
                      </a:r>
                      <a:endParaRPr/>
                    </a:p>
                  </a:txBody>
                  <a:tcPr marL="91450" marR="91450" marT="45725" marB="45725"/>
                </a:tc>
                <a:extLst>
                  <a:ext uri="{0D108BD9-81ED-4DB2-BD59-A6C34878D82A}">
                    <a16:rowId xmlns:a16="http://schemas.microsoft.com/office/drawing/2014/main" val="10000"/>
                  </a:ext>
                </a:extLst>
              </a:tr>
              <a:tr h="777250">
                <a:tc>
                  <a:txBody>
                    <a:bodyPr/>
                    <a:lstStyle/>
                    <a:p>
                      <a:pPr marL="0" marR="0" lvl="0" indent="0" algn="l" rtl="0">
                        <a:spcBef>
                          <a:spcPts val="0"/>
                        </a:spcBef>
                        <a:spcAft>
                          <a:spcPts val="0"/>
                        </a:spcAft>
                        <a:buNone/>
                      </a:pPr>
                      <a:r>
                        <a:rPr lang="en-US" sz="2400"/>
                        <a:t>Application</a:t>
                      </a:r>
                      <a:endParaRPr/>
                    </a:p>
                  </a:txBody>
                  <a:tcPr marL="91450" marR="91450" marT="45725" marB="45725"/>
                </a:tc>
                <a:tc>
                  <a:txBody>
                    <a:bodyPr/>
                    <a:lstStyle/>
                    <a:p>
                      <a:pPr marL="0" marR="0" lvl="0" indent="0" algn="l" rtl="0">
                        <a:spcBef>
                          <a:spcPts val="0"/>
                        </a:spcBef>
                        <a:spcAft>
                          <a:spcPts val="0"/>
                        </a:spcAft>
                        <a:buNone/>
                      </a:pPr>
                      <a:r>
                        <a:rPr lang="en-US" sz="2400"/>
                        <a:t>HTTP, POP 3, SMTP</a:t>
                      </a:r>
                      <a:endParaRPr/>
                    </a:p>
                  </a:txBody>
                  <a:tcPr marL="91450" marR="91450" marT="45725" marB="45725"/>
                </a:tc>
                <a:extLst>
                  <a:ext uri="{0D108BD9-81ED-4DB2-BD59-A6C34878D82A}">
                    <a16:rowId xmlns:a16="http://schemas.microsoft.com/office/drawing/2014/main" val="10001"/>
                  </a:ext>
                </a:extLst>
              </a:tr>
              <a:tr h="777250">
                <a:tc>
                  <a:txBody>
                    <a:bodyPr/>
                    <a:lstStyle/>
                    <a:p>
                      <a:pPr marL="0" marR="0" lvl="0" indent="0" algn="l" rtl="0">
                        <a:spcBef>
                          <a:spcPts val="0"/>
                        </a:spcBef>
                        <a:spcAft>
                          <a:spcPts val="0"/>
                        </a:spcAft>
                        <a:buNone/>
                      </a:pPr>
                      <a:r>
                        <a:rPr lang="en-US" sz="2400"/>
                        <a:t>Transport</a:t>
                      </a:r>
                      <a:endParaRPr/>
                    </a:p>
                  </a:txBody>
                  <a:tcPr marL="91450" marR="91450" marT="45725" marB="45725"/>
                </a:tc>
                <a:tc>
                  <a:txBody>
                    <a:bodyPr/>
                    <a:lstStyle/>
                    <a:p>
                      <a:pPr marL="0" marR="0" lvl="0" indent="0" algn="l" rtl="0">
                        <a:spcBef>
                          <a:spcPts val="0"/>
                        </a:spcBef>
                        <a:spcAft>
                          <a:spcPts val="0"/>
                        </a:spcAft>
                        <a:buNone/>
                      </a:pPr>
                      <a:r>
                        <a:rPr lang="en-US" sz="2400"/>
                        <a:t>TCP,UDP</a:t>
                      </a:r>
                      <a:endParaRPr/>
                    </a:p>
                  </a:txBody>
                  <a:tcPr marL="91450" marR="91450" marT="45725" marB="45725"/>
                </a:tc>
                <a:extLst>
                  <a:ext uri="{0D108BD9-81ED-4DB2-BD59-A6C34878D82A}">
                    <a16:rowId xmlns:a16="http://schemas.microsoft.com/office/drawing/2014/main" val="10002"/>
                  </a:ext>
                </a:extLst>
              </a:tr>
              <a:tr h="777250">
                <a:tc>
                  <a:txBody>
                    <a:bodyPr/>
                    <a:lstStyle/>
                    <a:p>
                      <a:pPr marL="0" marR="0" lvl="0" indent="0" algn="l" rtl="0">
                        <a:spcBef>
                          <a:spcPts val="0"/>
                        </a:spcBef>
                        <a:spcAft>
                          <a:spcPts val="0"/>
                        </a:spcAft>
                        <a:buNone/>
                      </a:pPr>
                      <a:r>
                        <a:rPr lang="en-US" sz="2400"/>
                        <a:t>Internet</a:t>
                      </a:r>
                      <a:endParaRPr/>
                    </a:p>
                  </a:txBody>
                  <a:tcPr marL="91450" marR="91450" marT="45725" marB="45725"/>
                </a:tc>
                <a:tc>
                  <a:txBody>
                    <a:bodyPr/>
                    <a:lstStyle/>
                    <a:p>
                      <a:pPr marL="0" marR="0" lvl="0" indent="0" algn="l" rtl="0">
                        <a:spcBef>
                          <a:spcPts val="0"/>
                        </a:spcBef>
                        <a:spcAft>
                          <a:spcPts val="0"/>
                        </a:spcAft>
                        <a:buNone/>
                      </a:pPr>
                      <a:r>
                        <a:rPr lang="en-US" sz="2400"/>
                        <a:t>IP, ICMP</a:t>
                      </a:r>
                      <a:endParaRPr/>
                    </a:p>
                  </a:txBody>
                  <a:tcPr marL="91450" marR="91450" marT="45725" marB="45725"/>
                </a:tc>
                <a:extLst>
                  <a:ext uri="{0D108BD9-81ED-4DB2-BD59-A6C34878D82A}">
                    <a16:rowId xmlns:a16="http://schemas.microsoft.com/office/drawing/2014/main" val="10003"/>
                  </a:ext>
                </a:extLst>
              </a:tr>
              <a:tr h="777250">
                <a:tc>
                  <a:txBody>
                    <a:bodyPr/>
                    <a:lstStyle/>
                    <a:p>
                      <a:pPr marL="0" marR="0" lvl="0" indent="0" algn="l" rtl="0">
                        <a:spcBef>
                          <a:spcPts val="0"/>
                        </a:spcBef>
                        <a:spcAft>
                          <a:spcPts val="0"/>
                        </a:spcAft>
                        <a:buNone/>
                      </a:pPr>
                      <a:r>
                        <a:rPr lang="en-US" sz="2400"/>
                        <a:t>Data Link &amp; Physical</a:t>
                      </a:r>
                      <a:endParaRPr/>
                    </a:p>
                  </a:txBody>
                  <a:tcPr marL="91450" marR="91450" marT="45725" marB="45725"/>
                </a:tc>
                <a:tc>
                  <a:txBody>
                    <a:bodyPr/>
                    <a:lstStyle/>
                    <a:p>
                      <a:pPr marL="0" marR="0" lvl="0" indent="0" algn="l" rtl="0">
                        <a:spcBef>
                          <a:spcPts val="0"/>
                        </a:spcBef>
                        <a:spcAft>
                          <a:spcPts val="0"/>
                        </a:spcAft>
                        <a:buNone/>
                      </a:pPr>
                      <a:r>
                        <a:rPr lang="en-US" sz="2400"/>
                        <a:t>Ethernet, 802.11 (Wi-Fi)</a:t>
                      </a:r>
                      <a:endParaRPr/>
                    </a:p>
                    <a:p>
                      <a:pPr marL="0" marR="0" lvl="0" indent="0" algn="l" rtl="0">
                        <a:spcBef>
                          <a:spcPts val="0"/>
                        </a:spcBef>
                        <a:spcAft>
                          <a:spcPts val="0"/>
                        </a:spcAft>
                        <a:buNone/>
                      </a:pPr>
                      <a:r>
                        <a:rPr lang="en-US" sz="2400"/>
                        <a:t>TCP/IP</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HTTP</a:t>
            </a:r>
            <a:endParaRPr/>
          </a:p>
        </p:txBody>
      </p:sp>
      <p:graphicFrame>
        <p:nvGraphicFramePr>
          <p:cNvPr id="137" name="Google Shape;137;p12"/>
          <p:cNvGraphicFramePr/>
          <p:nvPr/>
        </p:nvGraphicFramePr>
        <p:xfrm>
          <a:off x="3855085" y="2799715"/>
          <a:ext cx="4481825" cy="1258575"/>
        </p:xfrm>
        <a:graphic>
          <a:graphicData uri="http://schemas.openxmlformats.org/drawingml/2006/table">
            <a:tbl>
              <a:tblPr>
                <a:noFill/>
                <a:tableStyleId>{C601AA46-51A7-41FF-86AA-C1B9CD2E5B70}</a:tableStyleId>
              </a:tblPr>
              <a:tblGrid>
                <a:gridCol w="4481825">
                  <a:extLst>
                    <a:ext uri="{9D8B030D-6E8A-4147-A177-3AD203B41FA5}">
                      <a16:colId xmlns:a16="http://schemas.microsoft.com/office/drawing/2014/main" val="20000"/>
                    </a:ext>
                  </a:extLst>
                </a:gridCol>
              </a:tblGrid>
              <a:tr h="1258575">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8" name="Google Shape;138;p12"/>
          <p:cNvPicPr preferRelativeResize="0"/>
          <p:nvPr/>
        </p:nvPicPr>
        <p:blipFill rotWithShape="1">
          <a:blip r:embed="rId3">
            <a:alphaModFix/>
          </a:blip>
          <a:srcRect/>
          <a:stretch/>
        </p:blipFill>
        <p:spPr>
          <a:xfrm>
            <a:off x="2209800" y="2362200"/>
            <a:ext cx="7424928" cy="2209800"/>
          </a:xfrm>
          <a:prstGeom prst="rect">
            <a:avLst/>
          </a:prstGeom>
          <a:noFill/>
          <a:ln>
            <a:noFill/>
          </a:ln>
        </p:spPr>
      </p:pic>
      <p:sp>
        <p:nvSpPr>
          <p:cNvPr id="139" name="Google Shape;139;p12"/>
          <p:cNvSpPr txBox="1"/>
          <p:nvPr/>
        </p:nvSpPr>
        <p:spPr>
          <a:xfrm>
            <a:off x="2590800" y="5105400"/>
            <a:ext cx="6934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Basic Application Logic to Get a Web Page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HTTP (continued)</a:t>
            </a:r>
            <a:endParaRPr/>
          </a:p>
        </p:txBody>
      </p:sp>
      <p:graphicFrame>
        <p:nvGraphicFramePr>
          <p:cNvPr id="145" name="Google Shape;145;p13"/>
          <p:cNvGraphicFramePr/>
          <p:nvPr/>
        </p:nvGraphicFramePr>
        <p:xfrm>
          <a:off x="3883978" y="2799715"/>
          <a:ext cx="4424050" cy="1258575"/>
        </p:xfrm>
        <a:graphic>
          <a:graphicData uri="http://schemas.openxmlformats.org/drawingml/2006/table">
            <a:tbl>
              <a:tblPr>
                <a:noFill/>
                <a:tableStyleId>{C601AA46-51A7-41FF-86AA-C1B9CD2E5B70}</a:tableStyleId>
              </a:tblPr>
              <a:tblGrid>
                <a:gridCol w="4424050">
                  <a:extLst>
                    <a:ext uri="{9D8B030D-6E8A-4147-A177-3AD203B41FA5}">
                      <a16:colId xmlns:a16="http://schemas.microsoft.com/office/drawing/2014/main" val="20000"/>
                    </a:ext>
                  </a:extLst>
                </a:gridCol>
              </a:tblGrid>
              <a:tr h="1258575">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46" name="Google Shape;146;p13"/>
          <p:cNvPicPr preferRelativeResize="0"/>
          <p:nvPr/>
        </p:nvPicPr>
        <p:blipFill rotWithShape="1">
          <a:blip r:embed="rId3">
            <a:alphaModFix/>
          </a:blip>
          <a:srcRect/>
          <a:stretch/>
        </p:blipFill>
        <p:spPr>
          <a:xfrm>
            <a:off x="1981200" y="2590800"/>
            <a:ext cx="8184356" cy="2133600"/>
          </a:xfrm>
          <a:prstGeom prst="rect">
            <a:avLst/>
          </a:prstGeom>
          <a:noFill/>
          <a:ln>
            <a:noFill/>
          </a:ln>
        </p:spPr>
      </p:pic>
      <p:sp>
        <p:nvSpPr>
          <p:cNvPr id="147" name="Google Shape;147;p13"/>
          <p:cNvSpPr txBox="1"/>
          <p:nvPr/>
        </p:nvSpPr>
        <p:spPr>
          <a:xfrm>
            <a:off x="2209800" y="5257801"/>
            <a:ext cx="73914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HTTP Get Request, HTTP Reply, and one Data-Only Message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TCP/IP Transport Layer</a:t>
            </a:r>
            <a:endParaRPr/>
          </a:p>
        </p:txBody>
      </p:sp>
      <p:graphicFrame>
        <p:nvGraphicFramePr>
          <p:cNvPr id="153" name="Google Shape;153;p14"/>
          <p:cNvGraphicFramePr/>
          <p:nvPr/>
        </p:nvGraphicFramePr>
        <p:xfrm>
          <a:off x="3855085" y="2558098"/>
          <a:ext cx="4481825" cy="1741800"/>
        </p:xfrm>
        <a:graphic>
          <a:graphicData uri="http://schemas.openxmlformats.org/drawingml/2006/table">
            <a:tbl>
              <a:tblPr>
                <a:noFill/>
                <a:tableStyleId>{C601AA46-51A7-41FF-86AA-C1B9CD2E5B70}</a:tableStyleId>
              </a:tblPr>
              <a:tblGrid>
                <a:gridCol w="4481825">
                  <a:extLst>
                    <a:ext uri="{9D8B030D-6E8A-4147-A177-3AD203B41FA5}">
                      <a16:colId xmlns:a16="http://schemas.microsoft.com/office/drawing/2014/main" val="20000"/>
                    </a:ext>
                  </a:extLst>
                </a:gridCol>
              </a:tblGrid>
              <a:tr h="1741800">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54" name="Google Shape;154;p14"/>
          <p:cNvPicPr preferRelativeResize="0"/>
          <p:nvPr/>
        </p:nvPicPr>
        <p:blipFill rotWithShape="1">
          <a:blip r:embed="rId3">
            <a:alphaModFix/>
          </a:blip>
          <a:srcRect/>
          <a:stretch/>
        </p:blipFill>
        <p:spPr>
          <a:xfrm>
            <a:off x="1981200" y="2514600"/>
            <a:ext cx="8492794" cy="2819400"/>
          </a:xfrm>
          <a:prstGeom prst="rect">
            <a:avLst/>
          </a:prstGeom>
          <a:noFill/>
          <a:ln>
            <a:noFill/>
          </a:ln>
        </p:spPr>
      </p:pic>
      <p:sp>
        <p:nvSpPr>
          <p:cNvPr id="155" name="Google Shape;155;p14"/>
          <p:cNvSpPr txBox="1"/>
          <p:nvPr/>
        </p:nvSpPr>
        <p:spPr>
          <a:xfrm>
            <a:off x="2209800" y="5638800"/>
            <a:ext cx="7239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TCP Error-Recovery Services as Provided to HTTP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Same-Layer and Adjacent-Layer Interaction</a:t>
            </a:r>
            <a:endParaRPr/>
          </a:p>
        </p:txBody>
      </p:sp>
      <p:pic>
        <p:nvPicPr>
          <p:cNvPr id="161" name="Google Shape;161;p15"/>
          <p:cNvPicPr preferRelativeResize="0"/>
          <p:nvPr/>
        </p:nvPicPr>
        <p:blipFill rotWithShape="1">
          <a:blip r:embed="rId3">
            <a:alphaModFix/>
          </a:blip>
          <a:srcRect/>
          <a:stretch/>
        </p:blipFill>
        <p:spPr>
          <a:xfrm>
            <a:off x="2057400" y="2514600"/>
            <a:ext cx="8347972" cy="2133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Ethernet </a:t>
            </a:r>
            <a:endParaRPr/>
          </a:p>
        </p:txBody>
      </p:sp>
      <p:pic>
        <p:nvPicPr>
          <p:cNvPr id="167" name="Google Shape;167;p19"/>
          <p:cNvPicPr preferRelativeResize="0"/>
          <p:nvPr/>
        </p:nvPicPr>
        <p:blipFill rotWithShape="1">
          <a:blip r:embed="rId3">
            <a:alphaModFix/>
          </a:blip>
          <a:srcRect/>
          <a:stretch/>
        </p:blipFill>
        <p:spPr>
          <a:xfrm>
            <a:off x="2590800" y="2209800"/>
            <a:ext cx="7850846" cy="2438400"/>
          </a:xfrm>
          <a:prstGeom prst="rect">
            <a:avLst/>
          </a:prstGeom>
          <a:noFill/>
          <a:ln>
            <a:noFill/>
          </a:ln>
        </p:spPr>
      </p:pic>
      <p:sp>
        <p:nvSpPr>
          <p:cNvPr id="168" name="Google Shape;168;p19"/>
          <p:cNvSpPr txBox="1"/>
          <p:nvPr/>
        </p:nvSpPr>
        <p:spPr>
          <a:xfrm>
            <a:off x="1905000" y="5410201"/>
            <a:ext cx="8305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Larry Using Ethernet to Forward an IP Packet to Router R1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Five Steps of Data Encapsulation: TCP/IP </a:t>
            </a:r>
            <a:endParaRPr/>
          </a:p>
        </p:txBody>
      </p:sp>
      <p:graphicFrame>
        <p:nvGraphicFramePr>
          <p:cNvPr id="174" name="Google Shape;174;p20"/>
          <p:cNvGraphicFramePr/>
          <p:nvPr/>
        </p:nvGraphicFramePr>
        <p:xfrm>
          <a:off x="3654425" y="2368233"/>
          <a:ext cx="4883150" cy="2121525"/>
        </p:xfrm>
        <a:graphic>
          <a:graphicData uri="http://schemas.openxmlformats.org/drawingml/2006/table">
            <a:tbl>
              <a:tblPr>
                <a:noFill/>
                <a:tableStyleId>{C601AA46-51A7-41FF-86AA-C1B9CD2E5B70}</a:tableStyleId>
              </a:tblPr>
              <a:tblGrid>
                <a:gridCol w="4883150">
                  <a:extLst>
                    <a:ext uri="{9D8B030D-6E8A-4147-A177-3AD203B41FA5}">
                      <a16:colId xmlns:a16="http://schemas.microsoft.com/office/drawing/2014/main" val="20000"/>
                    </a:ext>
                  </a:extLst>
                </a:gridCol>
              </a:tblGrid>
              <a:tr h="2121525">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75" name="Google Shape;175;p20"/>
          <p:cNvPicPr preferRelativeResize="0"/>
          <p:nvPr/>
        </p:nvPicPr>
        <p:blipFill rotWithShape="1">
          <a:blip r:embed="rId3">
            <a:alphaModFix/>
          </a:blip>
          <a:srcRect/>
          <a:stretch/>
        </p:blipFill>
        <p:spPr>
          <a:xfrm>
            <a:off x="1981200" y="2362200"/>
            <a:ext cx="7601740" cy="3352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Perspective on Encapsulation and “Data”</a:t>
            </a:r>
            <a:endParaRPr/>
          </a:p>
        </p:txBody>
      </p:sp>
      <p:pic>
        <p:nvPicPr>
          <p:cNvPr id="181" name="Google Shape;181;p21"/>
          <p:cNvPicPr preferRelativeResize="0"/>
          <p:nvPr/>
        </p:nvPicPr>
        <p:blipFill rotWithShape="1">
          <a:blip r:embed="rId3">
            <a:alphaModFix/>
          </a:blip>
          <a:srcRect/>
          <a:stretch/>
        </p:blipFill>
        <p:spPr>
          <a:xfrm>
            <a:off x="1797718" y="2667000"/>
            <a:ext cx="8870283" cy="1371600"/>
          </a:xfrm>
          <a:prstGeom prst="rect">
            <a:avLst/>
          </a:prstGeom>
          <a:noFill/>
          <a:ln>
            <a:noFill/>
          </a:ln>
        </p:spPr>
      </p:pic>
      <p:sp>
        <p:nvSpPr>
          <p:cNvPr id="182" name="Google Shape;182;p21"/>
          <p:cNvSpPr/>
          <p:nvPr/>
        </p:nvSpPr>
        <p:spPr>
          <a:xfrm>
            <a:off x="1524001" y="113184"/>
            <a:ext cx="6359433" cy="2308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900">
                <a:solidFill>
                  <a:srgbClr val="000000"/>
                </a:solidFill>
                <a:latin typeface="Arial"/>
                <a:ea typeface="Arial"/>
                <a:cs typeface="Arial"/>
                <a:sym typeface="Arial"/>
              </a:rPr>
              <a:t>The letters LH and LT stand for link header and link trailer, respectively, and refer to the data link layer header and trailer.</a:t>
            </a:r>
            <a:endParaRPr sz="1800">
              <a:solidFill>
                <a:schemeClr val="dk1"/>
              </a:solidFill>
              <a:latin typeface="Arial"/>
              <a:ea typeface="Arial"/>
              <a:cs typeface="Arial"/>
              <a:sym typeface="Arial"/>
            </a:endParaRPr>
          </a:p>
        </p:txBody>
      </p:sp>
      <p:sp>
        <p:nvSpPr>
          <p:cNvPr id="183" name="Google Shape;183;p21"/>
          <p:cNvSpPr/>
          <p:nvPr/>
        </p:nvSpPr>
        <p:spPr>
          <a:xfrm>
            <a:off x="1524001" y="113184"/>
            <a:ext cx="6359433" cy="2308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900">
                <a:solidFill>
                  <a:srgbClr val="000000"/>
                </a:solidFill>
                <a:latin typeface="Arial"/>
                <a:ea typeface="Arial"/>
                <a:cs typeface="Arial"/>
                <a:sym typeface="Arial"/>
              </a:rPr>
              <a:t>The letters LH and LT stand for link header and link trailer, respectively, and refer to the data link layer header and trailer.</a:t>
            </a:r>
            <a:endParaRPr sz="1800">
              <a:solidFill>
                <a:schemeClr val="dk1"/>
              </a:solidFill>
              <a:latin typeface="Arial"/>
              <a:ea typeface="Arial"/>
              <a:cs typeface="Arial"/>
              <a:sym typeface="Arial"/>
            </a:endParaRPr>
          </a:p>
        </p:txBody>
      </p:sp>
      <p:sp>
        <p:nvSpPr>
          <p:cNvPr id="184" name="Google Shape;184;p21"/>
          <p:cNvSpPr/>
          <p:nvPr/>
        </p:nvSpPr>
        <p:spPr>
          <a:xfrm>
            <a:off x="2438400" y="4648201"/>
            <a:ext cx="7239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The letters LH and LT stand for link header and link trailer, respectively, and refer to the data link layer header and trailer.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OSI Networking Model</a:t>
            </a:r>
            <a:endParaRPr/>
          </a:p>
        </p:txBody>
      </p:sp>
      <p:graphicFrame>
        <p:nvGraphicFramePr>
          <p:cNvPr id="190" name="Google Shape;190;p22"/>
          <p:cNvGraphicFramePr/>
          <p:nvPr/>
        </p:nvGraphicFramePr>
        <p:xfrm>
          <a:off x="3653790" y="2656840"/>
          <a:ext cx="4884425" cy="1544325"/>
        </p:xfrm>
        <a:graphic>
          <a:graphicData uri="http://schemas.openxmlformats.org/drawingml/2006/table">
            <a:tbl>
              <a:tblPr>
                <a:noFill/>
                <a:tableStyleId>{C601AA46-51A7-41FF-86AA-C1B9CD2E5B70}</a:tableStyleId>
              </a:tblPr>
              <a:tblGrid>
                <a:gridCol w="4884425">
                  <a:extLst>
                    <a:ext uri="{9D8B030D-6E8A-4147-A177-3AD203B41FA5}">
                      <a16:colId xmlns:a16="http://schemas.microsoft.com/office/drawing/2014/main" val="20000"/>
                    </a:ext>
                  </a:extLst>
                </a:gridCol>
              </a:tblGrid>
              <a:tr h="1544325">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91" name="Google Shape;191;p22"/>
          <p:cNvPicPr preferRelativeResize="0"/>
          <p:nvPr/>
        </p:nvPicPr>
        <p:blipFill rotWithShape="1">
          <a:blip r:embed="rId3">
            <a:alphaModFix/>
          </a:blip>
          <a:srcRect/>
          <a:stretch/>
        </p:blipFill>
        <p:spPr>
          <a:xfrm>
            <a:off x="1752601" y="2590800"/>
            <a:ext cx="8746177" cy="2743200"/>
          </a:xfrm>
          <a:prstGeom prst="rect">
            <a:avLst/>
          </a:prstGeom>
          <a:noFill/>
          <a:ln>
            <a:noFill/>
          </a:ln>
        </p:spPr>
      </p:pic>
      <p:sp>
        <p:nvSpPr>
          <p:cNvPr id="192" name="Google Shape;192;p22"/>
          <p:cNvSpPr txBox="1"/>
          <p:nvPr/>
        </p:nvSpPr>
        <p:spPr>
          <a:xfrm>
            <a:off x="2133600" y="5715001"/>
            <a:ext cx="8077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OSI Model Compared to the Two TCP/IP Models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OSI Reference Model Layer Definitions</a:t>
            </a:r>
            <a:endParaRPr/>
          </a:p>
        </p:txBody>
      </p:sp>
      <p:graphicFrame>
        <p:nvGraphicFramePr>
          <p:cNvPr id="199" name="Google Shape;199;p23"/>
          <p:cNvGraphicFramePr/>
          <p:nvPr/>
        </p:nvGraphicFramePr>
        <p:xfrm>
          <a:off x="1676400" y="2057400"/>
          <a:ext cx="8686800" cy="4745225"/>
        </p:xfrm>
        <a:graphic>
          <a:graphicData uri="http://schemas.openxmlformats.org/drawingml/2006/table">
            <a:tbl>
              <a:tblPr firstRow="1" bandRow="1">
                <a:noFill/>
                <a:tableStyleId>{AF0C3DD7-B5E3-4673-9DC4-3F0B4CE32F5C}</a:tableStyleId>
              </a:tblPr>
              <a:tblGrid>
                <a:gridCol w="1152325">
                  <a:extLst>
                    <a:ext uri="{9D8B030D-6E8A-4147-A177-3AD203B41FA5}">
                      <a16:colId xmlns:a16="http://schemas.microsoft.com/office/drawing/2014/main" val="20000"/>
                    </a:ext>
                  </a:extLst>
                </a:gridCol>
                <a:gridCol w="7534475">
                  <a:extLst>
                    <a:ext uri="{9D8B030D-6E8A-4147-A177-3AD203B41FA5}">
                      <a16:colId xmlns:a16="http://schemas.microsoft.com/office/drawing/2014/main" val="20001"/>
                    </a:ext>
                  </a:extLst>
                </a:gridCol>
              </a:tblGrid>
              <a:tr h="374950">
                <a:tc>
                  <a:txBody>
                    <a:bodyPr/>
                    <a:lstStyle/>
                    <a:p>
                      <a:pPr marL="0" marR="0" lvl="0" indent="0" algn="l" rtl="0">
                        <a:spcBef>
                          <a:spcPts val="0"/>
                        </a:spcBef>
                        <a:spcAft>
                          <a:spcPts val="0"/>
                        </a:spcAft>
                        <a:buNone/>
                      </a:pPr>
                      <a:r>
                        <a:rPr lang="en-US" sz="1800"/>
                        <a:t>Layer</a:t>
                      </a:r>
                      <a:endParaRPr/>
                    </a:p>
                  </a:txBody>
                  <a:tcPr marL="91450" marR="91450" marT="45725" marB="45725"/>
                </a:tc>
                <a:tc>
                  <a:txBody>
                    <a:bodyPr/>
                    <a:lstStyle/>
                    <a:p>
                      <a:pPr marL="0" marR="0" lvl="0" indent="0" algn="l" rtl="0">
                        <a:spcBef>
                          <a:spcPts val="0"/>
                        </a:spcBef>
                        <a:spcAft>
                          <a:spcPts val="0"/>
                        </a:spcAft>
                        <a:buNone/>
                      </a:pPr>
                      <a:r>
                        <a:rPr lang="en-US" sz="1800"/>
                        <a:t>Functional Description</a:t>
                      </a:r>
                      <a:endParaRPr/>
                    </a:p>
                  </a:txBody>
                  <a:tcPr marL="91450" marR="91450" marT="45725" marB="45725"/>
                </a:tc>
                <a:extLst>
                  <a:ext uri="{0D108BD9-81ED-4DB2-BD59-A6C34878D82A}">
                    <a16:rowId xmlns:a16="http://schemas.microsoft.com/office/drawing/2014/main" val="10000"/>
                  </a:ext>
                </a:extLst>
              </a:tr>
              <a:tr h="884900">
                <a:tc>
                  <a:txBody>
                    <a:bodyPr/>
                    <a:lstStyle/>
                    <a:p>
                      <a:pPr marL="0" marR="0" lvl="0" indent="0" algn="l" rtl="0">
                        <a:spcBef>
                          <a:spcPts val="0"/>
                        </a:spcBef>
                        <a:spcAft>
                          <a:spcPts val="0"/>
                        </a:spcAft>
                        <a:buNone/>
                      </a:pPr>
                      <a:r>
                        <a:rPr lang="en-US" sz="1800"/>
                        <a:t>7       </a:t>
                      </a:r>
                      <a:r>
                        <a:rPr lang="en-US" sz="1800">
                          <a:solidFill>
                            <a:srgbClr val="FF0000"/>
                          </a:solidFill>
                        </a:rPr>
                        <a:t>All</a:t>
                      </a:r>
                      <a:endParaRPr sz="1800"/>
                    </a:p>
                  </a:txBody>
                  <a:tcPr marL="91450" marR="91450" marT="45725" marB="45725"/>
                </a:tc>
                <a:tc>
                  <a:txBody>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a:t>
                      </a:r>
                      <a:r>
                        <a:rPr lang="en-US" sz="1600">
                          <a:solidFill>
                            <a:schemeClr val="dk1"/>
                          </a:solidFill>
                          <a:latin typeface="Calibri"/>
                          <a:ea typeface="Calibri"/>
                          <a:cs typeface="Calibri"/>
                          <a:sym typeface="Calibri"/>
                        </a:rPr>
                        <a:t>pplication layer. This layer provides an interface between the communications software and any applications that need to communicate outside the computer on which the application resides. It also defines processes for user authentication.</a:t>
                      </a:r>
                      <a:endParaRPr sz="1600"/>
                    </a:p>
                  </a:txBody>
                  <a:tcPr marL="91450" marR="91450" marT="45725" marB="45725"/>
                </a:tc>
                <a:extLst>
                  <a:ext uri="{0D108BD9-81ED-4DB2-BD59-A6C34878D82A}">
                    <a16:rowId xmlns:a16="http://schemas.microsoft.com/office/drawing/2014/main" val="10001"/>
                  </a:ext>
                </a:extLst>
              </a:tr>
              <a:tr h="884900">
                <a:tc>
                  <a:txBody>
                    <a:bodyPr/>
                    <a:lstStyle/>
                    <a:p>
                      <a:pPr marL="0" marR="0" lvl="0" indent="0" algn="l" rtl="0">
                        <a:spcBef>
                          <a:spcPts val="0"/>
                        </a:spcBef>
                        <a:spcAft>
                          <a:spcPts val="0"/>
                        </a:spcAft>
                        <a:buNone/>
                      </a:pPr>
                      <a:r>
                        <a:rPr lang="en-US" sz="1800"/>
                        <a:t>6  </a:t>
                      </a:r>
                      <a:r>
                        <a:rPr lang="en-US" sz="1800">
                          <a:solidFill>
                            <a:srgbClr val="FF0000"/>
                          </a:solidFill>
                        </a:rPr>
                        <a:t>People</a:t>
                      </a:r>
                      <a:endParaRPr/>
                    </a:p>
                  </a:txBody>
                  <a:tcPr marL="91450" marR="91450" marT="45725" marB="45725"/>
                </a:tc>
                <a:tc>
                  <a:txBody>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P</a:t>
                      </a:r>
                      <a:r>
                        <a:rPr lang="en-US" sz="1600">
                          <a:solidFill>
                            <a:schemeClr val="dk1"/>
                          </a:solidFill>
                          <a:latin typeface="Calibri"/>
                          <a:ea typeface="Calibri"/>
                          <a:cs typeface="Calibri"/>
                          <a:sym typeface="Calibri"/>
                        </a:rPr>
                        <a:t>resentation layer. This layer’s main purpose is to define and negotiate data formats, such as ASCII text, EBCDIC text, binary, BCD, and JPEG. Encryption is also defined by OSI as a presentation layer service</a:t>
                      </a:r>
                      <a:endParaRPr sz="1600"/>
                    </a:p>
                  </a:txBody>
                  <a:tcPr marL="91450" marR="91450" marT="45725" marB="45725"/>
                </a:tc>
                <a:extLst>
                  <a:ext uri="{0D108BD9-81ED-4DB2-BD59-A6C34878D82A}">
                    <a16:rowId xmlns:a16="http://schemas.microsoft.com/office/drawing/2014/main" val="10002"/>
                  </a:ext>
                </a:extLst>
              </a:tr>
              <a:tr h="1289825">
                <a:tc>
                  <a:txBody>
                    <a:bodyPr/>
                    <a:lstStyle/>
                    <a:p>
                      <a:pPr marL="0" marR="0" lvl="0" indent="0" algn="l" rtl="0">
                        <a:spcBef>
                          <a:spcPts val="0"/>
                        </a:spcBef>
                        <a:spcAft>
                          <a:spcPts val="0"/>
                        </a:spcAft>
                        <a:buNone/>
                      </a:pPr>
                      <a:r>
                        <a:rPr lang="en-US" sz="1800"/>
                        <a:t>5     </a:t>
                      </a:r>
                      <a:r>
                        <a:rPr lang="en-US" sz="1800">
                          <a:solidFill>
                            <a:srgbClr val="FF0000"/>
                          </a:solidFill>
                        </a:rPr>
                        <a:t>Seem</a:t>
                      </a:r>
                      <a:endParaRPr/>
                    </a:p>
                  </a:txBody>
                  <a:tcPr marL="91450" marR="91450" marT="45725" marB="45725"/>
                </a:tc>
                <a:tc>
                  <a:txBody>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S</a:t>
                      </a:r>
                      <a:r>
                        <a:rPr lang="en-US" sz="1600">
                          <a:solidFill>
                            <a:schemeClr val="dk1"/>
                          </a:solidFill>
                          <a:latin typeface="Calibri"/>
                          <a:ea typeface="Calibri"/>
                          <a:cs typeface="Calibri"/>
                          <a:sym typeface="Calibri"/>
                        </a:rPr>
                        <a:t>ession layer. This layer defines how to start, control, and end conversations (called sessions). This includes the control and management of multiple bidirectional messages so that the application can be notified if only some of a series of messages are completed. This allows the presentation layer to have a seamless view of an incoming stream of data.</a:t>
                      </a:r>
                      <a:endParaRPr sz="1600"/>
                    </a:p>
                  </a:txBody>
                  <a:tcPr marL="91450" marR="91450" marT="45725" marB="45725"/>
                </a:tc>
                <a:extLst>
                  <a:ext uri="{0D108BD9-81ED-4DB2-BD59-A6C34878D82A}">
                    <a16:rowId xmlns:a16="http://schemas.microsoft.com/office/drawing/2014/main" val="10003"/>
                  </a:ext>
                </a:extLst>
              </a:tr>
              <a:tr h="1289825">
                <a:tc>
                  <a:txBody>
                    <a:bodyPr/>
                    <a:lstStyle/>
                    <a:p>
                      <a:pPr marL="0" marR="0" lvl="0" indent="0" algn="l" rtl="0">
                        <a:spcBef>
                          <a:spcPts val="0"/>
                        </a:spcBef>
                        <a:spcAft>
                          <a:spcPts val="0"/>
                        </a:spcAft>
                        <a:buNone/>
                      </a:pPr>
                      <a:r>
                        <a:rPr lang="en-US" sz="1800"/>
                        <a:t>4        </a:t>
                      </a:r>
                      <a:r>
                        <a:rPr lang="en-US" sz="1800">
                          <a:solidFill>
                            <a:srgbClr val="FF0000"/>
                          </a:solidFill>
                        </a:rPr>
                        <a:t>To</a:t>
                      </a:r>
                      <a:r>
                        <a:rPr lang="en-US" sz="1800"/>
                        <a:t> </a:t>
                      </a:r>
                      <a:endParaRPr/>
                    </a:p>
                  </a:txBody>
                  <a:tcPr marL="91450" marR="91450" marT="45725" marB="45725"/>
                </a:tc>
                <a:tc>
                  <a:txBody>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T</a:t>
                      </a:r>
                      <a:r>
                        <a:rPr lang="en-US" sz="1600">
                          <a:solidFill>
                            <a:schemeClr val="dk1"/>
                          </a:solidFill>
                          <a:latin typeface="Calibri"/>
                          <a:ea typeface="Calibri"/>
                          <a:cs typeface="Calibri"/>
                          <a:sym typeface="Calibri"/>
                        </a:rPr>
                        <a:t>ransport layer. This layer’s protocols provide a large number of services, as described in Chapter 5, “Fundamentals of TCP/IP Transport and Applications.” Although OSI Layers 5 through 7 focus on issues related to the application, Layer 4 focuses on issues related to data delivery to another computer (for instance, error recovery and flow control).</a:t>
                      </a:r>
                      <a:endParaRPr sz="160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Lucida Sans"/>
              <a:buNone/>
            </a:pPr>
            <a:r>
              <a:rPr lang="en-US"/>
              <a:t>OSI Reference Model Layer Definitions (Continued</a:t>
            </a:r>
            <a:br>
              <a:rPr lang="en-US"/>
            </a:br>
            <a:endParaRPr/>
          </a:p>
        </p:txBody>
      </p:sp>
      <p:graphicFrame>
        <p:nvGraphicFramePr>
          <p:cNvPr id="205" name="Google Shape;205;p24"/>
          <p:cNvGraphicFramePr/>
          <p:nvPr/>
        </p:nvGraphicFramePr>
        <p:xfrm>
          <a:off x="1676400" y="1981200"/>
          <a:ext cx="8991600" cy="4933375"/>
        </p:xfrm>
        <a:graphic>
          <a:graphicData uri="http://schemas.openxmlformats.org/drawingml/2006/table">
            <a:tbl>
              <a:tblPr firstRow="1" bandRow="1">
                <a:noFill/>
                <a:tableStyleId>{AF0C3DD7-B5E3-4673-9DC4-3F0B4CE32F5C}</a:tableStyleId>
              </a:tblPr>
              <a:tblGrid>
                <a:gridCol w="1348750">
                  <a:extLst>
                    <a:ext uri="{9D8B030D-6E8A-4147-A177-3AD203B41FA5}">
                      <a16:colId xmlns:a16="http://schemas.microsoft.com/office/drawing/2014/main" val="20000"/>
                    </a:ext>
                  </a:extLst>
                </a:gridCol>
                <a:gridCol w="7642850">
                  <a:extLst>
                    <a:ext uri="{9D8B030D-6E8A-4147-A177-3AD203B41FA5}">
                      <a16:colId xmlns:a16="http://schemas.microsoft.com/office/drawing/2014/main" val="20001"/>
                    </a:ext>
                  </a:extLst>
                </a:gridCol>
              </a:tblGrid>
              <a:tr h="359375">
                <a:tc>
                  <a:txBody>
                    <a:bodyPr/>
                    <a:lstStyle/>
                    <a:p>
                      <a:pPr marL="0" marR="0" lvl="0" indent="0" algn="l" rtl="0">
                        <a:spcBef>
                          <a:spcPts val="0"/>
                        </a:spcBef>
                        <a:spcAft>
                          <a:spcPts val="0"/>
                        </a:spcAft>
                        <a:buNone/>
                      </a:pPr>
                      <a:r>
                        <a:rPr lang="en-US" sz="1800"/>
                        <a:t>Layer</a:t>
                      </a:r>
                      <a:endParaRPr/>
                    </a:p>
                  </a:txBody>
                  <a:tcPr marL="91450" marR="91450" marT="45725" marB="45725"/>
                </a:tc>
                <a:tc>
                  <a:txBody>
                    <a:bodyPr/>
                    <a:lstStyle/>
                    <a:p>
                      <a:pPr marL="0" marR="0" lvl="0" indent="0" algn="l" rtl="0">
                        <a:spcBef>
                          <a:spcPts val="0"/>
                        </a:spcBef>
                        <a:spcAft>
                          <a:spcPts val="0"/>
                        </a:spcAft>
                        <a:buNone/>
                      </a:pPr>
                      <a:r>
                        <a:rPr lang="en-US" sz="1800"/>
                        <a:t>Functional Description</a:t>
                      </a:r>
                      <a:endParaRPr/>
                    </a:p>
                  </a:txBody>
                  <a:tcPr marL="91450" marR="91450" marT="45725" marB="45725"/>
                </a:tc>
                <a:extLst>
                  <a:ext uri="{0D108BD9-81ED-4DB2-BD59-A6C34878D82A}">
                    <a16:rowId xmlns:a16="http://schemas.microsoft.com/office/drawing/2014/main" val="10000"/>
                  </a:ext>
                </a:extLst>
              </a:tr>
              <a:tr h="1915825">
                <a:tc>
                  <a:txBody>
                    <a:bodyPr/>
                    <a:lstStyle/>
                    <a:p>
                      <a:pPr marL="0" marR="0" lvl="0" indent="0" algn="l" rtl="0">
                        <a:spcBef>
                          <a:spcPts val="0"/>
                        </a:spcBef>
                        <a:spcAft>
                          <a:spcPts val="0"/>
                        </a:spcAft>
                        <a:buNone/>
                      </a:pPr>
                      <a:r>
                        <a:rPr lang="en-US" sz="1800"/>
                        <a:t>3   </a:t>
                      </a:r>
                      <a:r>
                        <a:rPr lang="en-US" sz="1800">
                          <a:solidFill>
                            <a:srgbClr val="FF0000"/>
                          </a:solidFill>
                        </a:rPr>
                        <a:t>Need</a:t>
                      </a:r>
                      <a:endParaRPr sz="1800"/>
                    </a:p>
                  </a:txBody>
                  <a:tcPr marL="91450" marR="91450" marT="45725" marB="45725"/>
                </a:tc>
                <a:tc>
                  <a:txBody>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N</a:t>
                      </a:r>
                      <a:r>
                        <a:rPr lang="en-US" sz="1800">
                          <a:solidFill>
                            <a:schemeClr val="dk1"/>
                          </a:solidFill>
                          <a:latin typeface="Calibri"/>
                          <a:ea typeface="Calibri"/>
                          <a:cs typeface="Calibri"/>
                          <a:sym typeface="Calibri"/>
                        </a:rPr>
                        <a:t>etwork layer. This layer defines three main features: logical addressing, routing (forwarding), and path determination. Routing defines how devices (typically routers) forward packets to their final destination. Logical addressing defines how each device can have an address that can be used by the routing process. Path determination refers to the work done by routing protocols to learn all possible routes, and choose the best route.</a:t>
                      </a:r>
                      <a:endParaRPr sz="1600"/>
                    </a:p>
                  </a:txBody>
                  <a:tcPr marL="91450" marR="91450" marT="45725" marB="45725"/>
                </a:tc>
                <a:extLst>
                  <a:ext uri="{0D108BD9-81ED-4DB2-BD59-A6C34878D82A}">
                    <a16:rowId xmlns:a16="http://schemas.microsoft.com/office/drawing/2014/main" val="10001"/>
                  </a:ext>
                </a:extLst>
              </a:tr>
              <a:tr h="1132075">
                <a:tc>
                  <a:txBody>
                    <a:bodyPr/>
                    <a:lstStyle/>
                    <a:p>
                      <a:pPr marL="0" marR="0" lvl="0" indent="0" algn="l" rtl="0">
                        <a:spcBef>
                          <a:spcPts val="0"/>
                        </a:spcBef>
                        <a:spcAft>
                          <a:spcPts val="0"/>
                        </a:spcAft>
                        <a:buNone/>
                      </a:pPr>
                      <a:r>
                        <a:rPr lang="en-US" sz="1800"/>
                        <a:t>2   </a:t>
                      </a:r>
                      <a:r>
                        <a:rPr lang="en-US" sz="1800">
                          <a:solidFill>
                            <a:srgbClr val="FF0000"/>
                          </a:solidFill>
                        </a:rPr>
                        <a:t>Data</a:t>
                      </a:r>
                      <a:endParaRPr/>
                    </a:p>
                  </a:txBody>
                  <a:tcPr marL="91450" marR="91450" marT="45725" marB="45725"/>
                </a:tc>
                <a:tc>
                  <a:txBody>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D</a:t>
                      </a:r>
                      <a:r>
                        <a:rPr lang="en-US" sz="1800">
                          <a:solidFill>
                            <a:schemeClr val="dk1"/>
                          </a:solidFill>
                          <a:latin typeface="Calibri"/>
                          <a:ea typeface="Calibri"/>
                          <a:cs typeface="Calibri"/>
                          <a:sym typeface="Calibri"/>
                        </a:rPr>
                        <a:t>ata link layer. This layer defines the rules that determine when a device can send data over a particular medium. Data link protocols also define the format of a header and trailer that allows devices attached to the medium to successfully send and receive data</a:t>
                      </a:r>
                      <a:endParaRPr sz="1600"/>
                    </a:p>
                  </a:txBody>
                  <a:tcPr marL="91450" marR="91450" marT="45725" marB="45725"/>
                </a:tc>
                <a:extLst>
                  <a:ext uri="{0D108BD9-81ED-4DB2-BD59-A6C34878D82A}">
                    <a16:rowId xmlns:a16="http://schemas.microsoft.com/office/drawing/2014/main" val="10002"/>
                  </a:ext>
                </a:extLst>
              </a:tr>
              <a:tr h="1393325">
                <a:tc>
                  <a:txBody>
                    <a:bodyPr/>
                    <a:lstStyle/>
                    <a:p>
                      <a:pPr marL="0" marR="0" lvl="0" indent="0" algn="l" rtl="0">
                        <a:spcBef>
                          <a:spcPts val="0"/>
                        </a:spcBef>
                        <a:spcAft>
                          <a:spcPts val="0"/>
                        </a:spcAft>
                        <a:buNone/>
                      </a:pPr>
                      <a:r>
                        <a:rPr lang="en-US" sz="1800"/>
                        <a:t>1 </a:t>
                      </a:r>
                      <a:r>
                        <a:rPr lang="en-US" sz="1800">
                          <a:solidFill>
                            <a:srgbClr val="FF0000"/>
                          </a:solidFill>
                        </a:rPr>
                        <a:t>Processing </a:t>
                      </a: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P</a:t>
                      </a:r>
                      <a:r>
                        <a:rPr lang="en-US" sz="1800">
                          <a:solidFill>
                            <a:schemeClr val="dk1"/>
                          </a:solidFill>
                          <a:latin typeface="Calibri"/>
                          <a:ea typeface="Calibri"/>
                          <a:cs typeface="Calibri"/>
                          <a:sym typeface="Calibri"/>
                        </a:rPr>
                        <a:t>hysical layer. This layer typically refers to standards from other organizations. These standards deal with the physical characteristics of the transmission medium, including connectors, pins, use of pins, electrical currents, encoding, light modulation, and the rules for how to activate and deactivate the use of the physical medium.</a:t>
                      </a:r>
                      <a:endParaRPr sz="160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5"/>
          <p:cNvSpPr txBox="1">
            <a:spLocks noGrp="1"/>
          </p:cNvSpPr>
          <p:nvPr>
            <p:ph type="title"/>
          </p:nvPr>
        </p:nvSpPr>
        <p:spPr>
          <a:xfrm>
            <a:off x="1905000" y="914400"/>
            <a:ext cx="8229600" cy="1066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Lucida Sans"/>
              <a:buNone/>
            </a:pPr>
            <a:r>
              <a:rPr lang="en-US"/>
              <a:t>OSI Reference Model Example Devices and Protocols</a:t>
            </a:r>
            <a:endParaRPr/>
          </a:p>
        </p:txBody>
      </p:sp>
      <p:graphicFrame>
        <p:nvGraphicFramePr>
          <p:cNvPr id="211" name="Google Shape;211;p25"/>
          <p:cNvGraphicFramePr/>
          <p:nvPr/>
        </p:nvGraphicFramePr>
        <p:xfrm>
          <a:off x="1752600" y="2133600"/>
          <a:ext cx="8763000" cy="4477160"/>
        </p:xfrm>
        <a:graphic>
          <a:graphicData uri="http://schemas.openxmlformats.org/drawingml/2006/table">
            <a:tbl>
              <a:tblPr firstRow="1" bandRow="1">
                <a:noFill/>
                <a:tableStyleId>{AF0C3DD7-B5E3-4673-9DC4-3F0B4CE32F5C}</a:tableStyleId>
              </a:tblPr>
              <a:tblGrid>
                <a:gridCol w="2921000">
                  <a:extLst>
                    <a:ext uri="{9D8B030D-6E8A-4147-A177-3AD203B41FA5}">
                      <a16:colId xmlns:a16="http://schemas.microsoft.com/office/drawing/2014/main" val="20000"/>
                    </a:ext>
                  </a:extLst>
                </a:gridCol>
                <a:gridCol w="2921000">
                  <a:extLst>
                    <a:ext uri="{9D8B030D-6E8A-4147-A177-3AD203B41FA5}">
                      <a16:colId xmlns:a16="http://schemas.microsoft.com/office/drawing/2014/main" val="20001"/>
                    </a:ext>
                  </a:extLst>
                </a:gridCol>
                <a:gridCol w="2921000">
                  <a:extLst>
                    <a:ext uri="{9D8B030D-6E8A-4147-A177-3AD203B41FA5}">
                      <a16:colId xmlns:a16="http://schemas.microsoft.com/office/drawing/2014/main" val="20002"/>
                    </a:ext>
                  </a:extLst>
                </a:gridCol>
              </a:tblGrid>
              <a:tr h="712550">
                <a:tc>
                  <a:txBody>
                    <a:bodyPr/>
                    <a:lstStyle/>
                    <a:p>
                      <a:pPr marL="0" marR="0" lvl="0" indent="0" algn="l" rtl="0">
                        <a:spcBef>
                          <a:spcPts val="0"/>
                        </a:spcBef>
                        <a:spcAft>
                          <a:spcPts val="0"/>
                        </a:spcAft>
                        <a:buNone/>
                      </a:pPr>
                      <a:r>
                        <a:rPr lang="en-US" sz="1800"/>
                        <a:t>Layer Name</a:t>
                      </a:r>
                      <a:endParaRPr/>
                    </a:p>
                  </a:txBody>
                  <a:tcPr marL="91450" marR="91450" marT="45725" marB="45725"/>
                </a:tc>
                <a:tc>
                  <a:txBody>
                    <a:bodyPr/>
                    <a:lstStyle/>
                    <a:p>
                      <a:pPr marL="0" marR="0" lvl="0" indent="0" algn="l" rtl="0">
                        <a:spcBef>
                          <a:spcPts val="0"/>
                        </a:spcBef>
                        <a:spcAft>
                          <a:spcPts val="0"/>
                        </a:spcAft>
                        <a:buNone/>
                      </a:pPr>
                      <a:r>
                        <a:rPr lang="en-US" sz="1800"/>
                        <a:t>Protocols and Specifications</a:t>
                      </a:r>
                      <a:endParaRPr/>
                    </a:p>
                  </a:txBody>
                  <a:tcPr marL="91450" marR="91450" marT="45725" marB="45725"/>
                </a:tc>
                <a:tc>
                  <a:txBody>
                    <a:bodyPr/>
                    <a:lstStyle/>
                    <a:p>
                      <a:pPr marL="0" marR="0" lvl="0" indent="0" algn="l" rtl="0">
                        <a:spcBef>
                          <a:spcPts val="0"/>
                        </a:spcBef>
                        <a:spcAft>
                          <a:spcPts val="0"/>
                        </a:spcAft>
                        <a:buNone/>
                      </a:pPr>
                      <a:r>
                        <a:rPr lang="en-US" sz="1800"/>
                        <a:t>Devices</a:t>
                      </a:r>
                      <a:endParaRPr/>
                    </a:p>
                  </a:txBody>
                  <a:tcPr marL="91450" marR="91450" marT="45725" marB="45725"/>
                </a:tc>
                <a:extLst>
                  <a:ext uri="{0D108BD9-81ED-4DB2-BD59-A6C34878D82A}">
                    <a16:rowId xmlns:a16="http://schemas.microsoft.com/office/drawing/2014/main" val="10000"/>
                  </a:ext>
                </a:extLst>
              </a:tr>
              <a:tr h="712550">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Application, presentation, session (Layers 5–7)</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Telnet, HTTP, FTP, SMTP, POP3, VoIP, SNMP</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Hosts, firewalls</a:t>
                      </a:r>
                      <a:endParaRPr sz="1800"/>
                    </a:p>
                  </a:txBody>
                  <a:tcPr marL="91450" marR="91450" marT="45725" marB="45725"/>
                </a:tc>
                <a:extLst>
                  <a:ext uri="{0D108BD9-81ED-4DB2-BD59-A6C34878D82A}">
                    <a16:rowId xmlns:a16="http://schemas.microsoft.com/office/drawing/2014/main" val="10001"/>
                  </a:ext>
                </a:extLst>
              </a:tr>
              <a:tr h="712550">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Transport (Layer 4)</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TCP, UDP</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Hosts, firewalls</a:t>
                      </a:r>
                      <a:endParaRPr sz="1800"/>
                    </a:p>
                  </a:txBody>
                  <a:tcPr marL="91450" marR="91450" marT="45725" marB="45725"/>
                </a:tc>
                <a:extLst>
                  <a:ext uri="{0D108BD9-81ED-4DB2-BD59-A6C34878D82A}">
                    <a16:rowId xmlns:a16="http://schemas.microsoft.com/office/drawing/2014/main" val="10002"/>
                  </a:ext>
                </a:extLst>
              </a:tr>
              <a:tr h="712550">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Network (Layer 3)</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IP</a:t>
                      </a:r>
                      <a:endParaRPr sz="1800"/>
                    </a:p>
                  </a:txBody>
                  <a:tcPr marL="91450" marR="91450" marT="45725" marB="45725"/>
                </a:tc>
                <a:tc>
                  <a:txBody>
                    <a:bodyPr/>
                    <a:lstStyle/>
                    <a:p>
                      <a:pPr marL="0" marR="0" lvl="0" indent="0" algn="l" rtl="0">
                        <a:spcBef>
                          <a:spcPts val="0"/>
                        </a:spcBef>
                        <a:spcAft>
                          <a:spcPts val="0"/>
                        </a:spcAft>
                        <a:buNone/>
                      </a:pPr>
                      <a:r>
                        <a:rPr lang="en-US" sz="1800"/>
                        <a:t>Router</a:t>
                      </a:r>
                      <a:endParaRPr/>
                    </a:p>
                  </a:txBody>
                  <a:tcPr marL="91450" marR="91450" marT="45725" marB="45725"/>
                </a:tc>
                <a:extLst>
                  <a:ext uri="{0D108BD9-81ED-4DB2-BD59-A6C34878D82A}">
                    <a16:rowId xmlns:a16="http://schemas.microsoft.com/office/drawing/2014/main" val="10003"/>
                  </a:ext>
                </a:extLst>
              </a:tr>
              <a:tr h="869550">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Data link (Layer 2)</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Ethernet (IEEE 802.3), HDLC</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LAN switch, wireless access point, cable modem, DSL modem</a:t>
                      </a:r>
                      <a:endParaRPr sz="1800"/>
                    </a:p>
                  </a:txBody>
                  <a:tcPr marL="91450" marR="91450" marT="45725" marB="45725"/>
                </a:tc>
                <a:extLst>
                  <a:ext uri="{0D108BD9-81ED-4DB2-BD59-A6C34878D82A}">
                    <a16:rowId xmlns:a16="http://schemas.microsoft.com/office/drawing/2014/main" val="10004"/>
                  </a:ext>
                </a:extLst>
              </a:tr>
              <a:tr h="712550">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Physical (Layer 1)</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RJ-45,  Ethernet (IEEE 802.3)</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LAN hub, LAN repeater, cables</a:t>
                      </a:r>
                      <a:endParaRPr sz="18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OSI Encapsulation and Protocol Data Units</a:t>
            </a:r>
            <a:endParaRPr/>
          </a:p>
        </p:txBody>
      </p:sp>
      <p:graphicFrame>
        <p:nvGraphicFramePr>
          <p:cNvPr id="217" name="Google Shape;217;p26"/>
          <p:cNvGraphicFramePr/>
          <p:nvPr/>
        </p:nvGraphicFramePr>
        <p:xfrm>
          <a:off x="3682365" y="2456180"/>
          <a:ext cx="4827275" cy="1945650"/>
        </p:xfrm>
        <a:graphic>
          <a:graphicData uri="http://schemas.openxmlformats.org/drawingml/2006/table">
            <a:tbl>
              <a:tblPr>
                <a:noFill/>
                <a:tableStyleId>{C601AA46-51A7-41FF-86AA-C1B9CD2E5B70}</a:tableStyleId>
              </a:tblPr>
              <a:tblGrid>
                <a:gridCol w="4827275">
                  <a:extLst>
                    <a:ext uri="{9D8B030D-6E8A-4147-A177-3AD203B41FA5}">
                      <a16:colId xmlns:a16="http://schemas.microsoft.com/office/drawing/2014/main" val="20000"/>
                    </a:ext>
                  </a:extLst>
                </a:gridCol>
              </a:tblGrid>
              <a:tr h="1945650">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18" name="Google Shape;218;p26"/>
          <p:cNvPicPr preferRelativeResize="0"/>
          <p:nvPr/>
        </p:nvPicPr>
        <p:blipFill rotWithShape="1">
          <a:blip r:embed="rId3">
            <a:alphaModFix/>
          </a:blip>
          <a:srcRect/>
          <a:stretch/>
        </p:blipFill>
        <p:spPr>
          <a:xfrm>
            <a:off x="1981201" y="2438400"/>
            <a:ext cx="8356471" cy="3352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34" title="Inside the Beach House Connecting the World’s Internet"/>
          <p:cNvPicPr preferRelativeResize="0"/>
          <p:nvPr/>
        </p:nvPicPr>
        <p:blipFill rotWithShape="1">
          <a:blip r:embed="rId3">
            <a:alphaModFix/>
          </a:blip>
          <a:srcRect/>
          <a:stretch/>
        </p:blipFill>
        <p:spPr>
          <a:xfrm>
            <a:off x="0" y="0"/>
            <a:ext cx="12138053" cy="685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35" descr="Shape&#10;&#10;Description automatically generated with low confidence"/>
          <p:cNvPicPr preferRelativeResize="0"/>
          <p:nvPr/>
        </p:nvPicPr>
        <p:blipFill rotWithShape="1">
          <a:blip r:embed="rId3">
            <a:alphaModFix/>
          </a:blip>
          <a:srcRect/>
          <a:stretch/>
        </p:blipFill>
        <p:spPr>
          <a:xfrm>
            <a:off x="3757224" y="1722938"/>
            <a:ext cx="4433236" cy="443323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a5482384b6_0_20"/>
          <p:cNvSpPr txBox="1">
            <a:spLocks noGrp="1"/>
          </p:cNvSpPr>
          <p:nvPr>
            <p:ph type="body" idx="1"/>
          </p:nvPr>
        </p:nvSpPr>
        <p:spPr>
          <a:xfrm>
            <a:off x="838200" y="1871550"/>
            <a:ext cx="10515600" cy="4351200"/>
          </a:xfrm>
          <a:prstGeom prst="rect">
            <a:avLst/>
          </a:prstGeom>
        </p:spPr>
        <p:txBody>
          <a:bodyPr spcFirstLastPara="1" wrap="square" lIns="91425" tIns="45700" rIns="91425" bIns="45700" anchor="t" anchorCtr="0">
            <a:normAutofit/>
          </a:bodyPr>
          <a:lstStyle/>
          <a:p>
            <a:pPr marL="457200" lvl="0" indent="-406400" algn="l" rtl="0">
              <a:spcBef>
                <a:spcPts val="1000"/>
              </a:spcBef>
              <a:spcAft>
                <a:spcPts val="0"/>
              </a:spcAft>
              <a:buSzPts val="2800"/>
              <a:buChar char="•"/>
            </a:pPr>
            <a:r>
              <a:rPr lang="en-US"/>
              <a:t>Forklar for hinanden hvad I så i filmen.</a:t>
            </a:r>
            <a:endParaRPr/>
          </a:p>
          <a:p>
            <a:pPr marL="457200" lvl="0" indent="-406400" algn="l" rtl="0">
              <a:spcBef>
                <a:spcPts val="0"/>
              </a:spcBef>
              <a:spcAft>
                <a:spcPts val="0"/>
              </a:spcAft>
              <a:buSzPts val="2800"/>
              <a:buChar char="•"/>
            </a:pPr>
            <a:r>
              <a:rPr lang="en-US"/>
              <a:t>Hvilke elementer lagde du særligt mærke til?</a:t>
            </a:r>
            <a:endParaRPr/>
          </a:p>
          <a:p>
            <a:pPr marL="457200" lvl="0" indent="-406400" algn="l" rtl="0">
              <a:spcBef>
                <a:spcPts val="0"/>
              </a:spcBef>
              <a:spcAft>
                <a:spcPts val="0"/>
              </a:spcAft>
              <a:buSzPts val="2800"/>
              <a:buChar char="•"/>
            </a:pPr>
            <a:r>
              <a:rPr lang="en-US"/>
              <a:t>Var der noget som overraskende dig?</a:t>
            </a:r>
            <a:endParaRPr/>
          </a:p>
          <a:p>
            <a:pPr marL="914400" lvl="1" indent="-381000" algn="l" rtl="0">
              <a:spcBef>
                <a:spcPts val="0"/>
              </a:spcBef>
              <a:spcAft>
                <a:spcPts val="0"/>
              </a:spcAft>
              <a:buSzPts val="2400"/>
              <a:buChar char="•"/>
            </a:pPr>
            <a:r>
              <a:rPr lang="en-US"/>
              <a:t>Hvad? (hvorfor)</a:t>
            </a:r>
            <a:endParaRPr/>
          </a:p>
          <a:p>
            <a:pPr marL="457200" lvl="0" indent="-406400" algn="l" rtl="0">
              <a:spcBef>
                <a:spcPts val="0"/>
              </a:spcBef>
              <a:spcAft>
                <a:spcPts val="0"/>
              </a:spcAft>
              <a:buSzPts val="2800"/>
              <a:buChar char="•"/>
            </a:pPr>
            <a:r>
              <a:rPr lang="en-US"/>
              <a:t>Er denne video stadig gældende tror du/i?</a:t>
            </a:r>
            <a:endParaRPr/>
          </a:p>
          <a:p>
            <a:pPr marL="0" lvl="0" indent="0" algn="l" rtl="0">
              <a:spcBef>
                <a:spcPts val="1000"/>
              </a:spcBef>
              <a:spcAft>
                <a:spcPts val="0"/>
              </a:spcAft>
              <a:buNone/>
            </a:pPr>
            <a:endParaRPr/>
          </a:p>
        </p:txBody>
      </p:sp>
      <p:sp>
        <p:nvSpPr>
          <p:cNvPr id="234" name="Google Shape;234;g3a5482384b6_0_2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Gruppedialog</a:t>
            </a:r>
            <a:endParaRPr/>
          </a:p>
        </p:txBody>
      </p:sp>
      <p:pic>
        <p:nvPicPr>
          <p:cNvPr id="235" name="Google Shape;235;g3a5482384b6_0_20" descr="Shape&#10;&#10;Description automatically generated with low confidence"/>
          <p:cNvPicPr preferRelativeResize="0"/>
          <p:nvPr/>
        </p:nvPicPr>
        <p:blipFill rotWithShape="1">
          <a:blip r:embed="rId3">
            <a:alphaModFix/>
          </a:blip>
          <a:srcRect/>
          <a:stretch/>
        </p:blipFill>
        <p:spPr>
          <a:xfrm>
            <a:off x="10283127" y="365125"/>
            <a:ext cx="1506426" cy="15064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SOHO LAN</a:t>
            </a:r>
            <a:endParaRPr/>
          </a:p>
        </p:txBody>
      </p:sp>
      <p:pic>
        <p:nvPicPr>
          <p:cNvPr id="241" name="Google Shape;241;p42"/>
          <p:cNvPicPr preferRelativeResize="0"/>
          <p:nvPr/>
        </p:nvPicPr>
        <p:blipFill rotWithShape="1">
          <a:blip r:embed="rId3">
            <a:alphaModFix/>
          </a:blip>
          <a:srcRect/>
          <a:stretch/>
        </p:blipFill>
        <p:spPr>
          <a:xfrm>
            <a:off x="2362200" y="2133600"/>
            <a:ext cx="8146122" cy="3124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Ethernet LAN Forwards a Data Link Frame Over Many Types of Links</a:t>
            </a:r>
            <a:endParaRPr/>
          </a:p>
        </p:txBody>
      </p:sp>
      <p:pic>
        <p:nvPicPr>
          <p:cNvPr id="247" name="Google Shape;247;p46"/>
          <p:cNvPicPr preferRelativeResize="0"/>
          <p:nvPr/>
        </p:nvPicPr>
        <p:blipFill rotWithShape="1">
          <a:blip r:embed="rId3">
            <a:alphaModFix/>
          </a:blip>
          <a:srcRect/>
          <a:stretch/>
        </p:blipFill>
        <p:spPr>
          <a:xfrm>
            <a:off x="1905000" y="2438400"/>
            <a:ext cx="8261808" cy="2667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7"/>
          <p:cNvSpPr txBox="1">
            <a:spLocks noGrp="1"/>
          </p:cNvSpPr>
          <p:nvPr>
            <p:ph type="title"/>
          </p:nvPr>
        </p:nvSpPr>
        <p:spPr>
          <a:xfrm>
            <a:off x="1981200" y="1143000"/>
            <a:ext cx="8229600" cy="1066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Lucida Sans"/>
              <a:buNone/>
            </a:pPr>
            <a:r>
              <a:rPr lang="en-US"/>
              <a:t>Creating One Electrical Circuit over One Pair to Send in One Direction</a:t>
            </a:r>
            <a:endParaRPr/>
          </a:p>
        </p:txBody>
      </p:sp>
      <p:pic>
        <p:nvPicPr>
          <p:cNvPr id="253" name="Google Shape;253;p47"/>
          <p:cNvPicPr preferRelativeResize="0">
            <a:picLocks noGrp="1"/>
          </p:cNvPicPr>
          <p:nvPr>
            <p:ph type="body" idx="1"/>
          </p:nvPr>
        </p:nvPicPr>
        <p:blipFill rotWithShape="1">
          <a:blip r:embed="rId3">
            <a:alphaModFix/>
          </a:blip>
          <a:srcRect/>
          <a:stretch/>
        </p:blipFill>
        <p:spPr>
          <a:xfrm>
            <a:off x="2133600" y="3017580"/>
            <a:ext cx="7620000" cy="207275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a5482384b6_0_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C-ark</a:t>
            </a:r>
            <a:endParaRPr/>
          </a:p>
        </p:txBody>
      </p:sp>
      <p:pic>
        <p:nvPicPr>
          <p:cNvPr id="260" name="Google Shape;260;g3a5482384b6_0_12"/>
          <p:cNvPicPr preferRelativeResize="0"/>
          <p:nvPr/>
        </p:nvPicPr>
        <p:blipFill>
          <a:blip r:embed="rId3">
            <a:alphaModFix/>
          </a:blip>
          <a:stretch>
            <a:fillRect/>
          </a:stretch>
        </p:blipFill>
        <p:spPr>
          <a:xfrm>
            <a:off x="6432096" y="1825625"/>
            <a:ext cx="4921699" cy="3906699"/>
          </a:xfrm>
          <a:prstGeom prst="rect">
            <a:avLst/>
          </a:prstGeom>
          <a:noFill/>
          <a:ln>
            <a:noFill/>
          </a:ln>
        </p:spPr>
      </p:pic>
      <p:pic>
        <p:nvPicPr>
          <p:cNvPr id="261" name="Google Shape;261;g3a5482384b6_0_12"/>
          <p:cNvPicPr preferRelativeResize="0"/>
          <p:nvPr/>
        </p:nvPicPr>
        <p:blipFill>
          <a:blip r:embed="rId4">
            <a:alphaModFix/>
          </a:blip>
          <a:stretch>
            <a:fillRect/>
          </a:stretch>
        </p:blipFill>
        <p:spPr>
          <a:xfrm>
            <a:off x="838200" y="1657738"/>
            <a:ext cx="5149199" cy="4242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Basic Components of an Ethernet Link</a:t>
            </a:r>
            <a:endParaRPr/>
          </a:p>
        </p:txBody>
      </p:sp>
      <p:graphicFrame>
        <p:nvGraphicFramePr>
          <p:cNvPr id="267" name="Google Shape;267;p48"/>
          <p:cNvGraphicFramePr/>
          <p:nvPr/>
        </p:nvGraphicFramePr>
        <p:xfrm>
          <a:off x="3682683" y="2682240"/>
          <a:ext cx="3000000" cy="3000000"/>
        </p:xfrm>
        <a:graphic>
          <a:graphicData uri="http://schemas.openxmlformats.org/drawingml/2006/table">
            <a:tbl>
              <a:tblPr>
                <a:noFill/>
                <a:tableStyleId>{C601AA46-51A7-41FF-86AA-C1B9CD2E5B70}</a:tableStyleId>
              </a:tblPr>
              <a:tblGrid>
                <a:gridCol w="4826625">
                  <a:extLst>
                    <a:ext uri="{9D8B030D-6E8A-4147-A177-3AD203B41FA5}">
                      <a16:colId xmlns:a16="http://schemas.microsoft.com/office/drawing/2014/main" val="20000"/>
                    </a:ext>
                  </a:extLst>
                </a:gridCol>
              </a:tblGrid>
              <a:tr h="1493525">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68" name="Google Shape;268;p48"/>
          <p:cNvPicPr preferRelativeResize="0"/>
          <p:nvPr/>
        </p:nvPicPr>
        <p:blipFill rotWithShape="1">
          <a:blip r:embed="rId3">
            <a:alphaModFix/>
          </a:blip>
          <a:srcRect/>
          <a:stretch/>
        </p:blipFill>
        <p:spPr>
          <a:xfrm>
            <a:off x="2133600" y="2743200"/>
            <a:ext cx="7841129" cy="2438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RJ-45 Connectors and Ports</a:t>
            </a:r>
            <a:endParaRPr/>
          </a:p>
        </p:txBody>
      </p:sp>
      <p:graphicFrame>
        <p:nvGraphicFramePr>
          <p:cNvPr id="274" name="Google Shape;274;p49"/>
          <p:cNvGraphicFramePr/>
          <p:nvPr/>
        </p:nvGraphicFramePr>
        <p:xfrm>
          <a:off x="3846830" y="2332038"/>
          <a:ext cx="3000000" cy="3000000"/>
        </p:xfrm>
        <a:graphic>
          <a:graphicData uri="http://schemas.openxmlformats.org/drawingml/2006/table">
            <a:tbl>
              <a:tblPr>
                <a:noFill/>
                <a:tableStyleId>{C601AA46-51A7-41FF-86AA-C1B9CD2E5B70}</a:tableStyleId>
              </a:tblPr>
              <a:tblGrid>
                <a:gridCol w="4498350">
                  <a:extLst>
                    <a:ext uri="{9D8B030D-6E8A-4147-A177-3AD203B41FA5}">
                      <a16:colId xmlns:a16="http://schemas.microsoft.com/office/drawing/2014/main" val="20000"/>
                    </a:ext>
                  </a:extLst>
                </a:gridCol>
              </a:tblGrid>
              <a:tr h="2193925">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75" name="Google Shape;275;p49"/>
          <p:cNvPicPr preferRelativeResize="0"/>
          <p:nvPr/>
        </p:nvPicPr>
        <p:blipFill rotWithShape="1">
          <a:blip r:embed="rId3">
            <a:alphaModFix/>
          </a:blip>
          <a:srcRect/>
          <a:stretch/>
        </p:blipFill>
        <p:spPr>
          <a:xfrm>
            <a:off x="2971800" y="2362201"/>
            <a:ext cx="6248400" cy="427953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1"/>
          <p:cNvSpPr txBox="1">
            <a:spLocks noGrp="1"/>
          </p:cNvSpPr>
          <p:nvPr>
            <p:ph type="title"/>
          </p:nvPr>
        </p:nvSpPr>
        <p:spPr>
          <a:xfrm>
            <a:off x="838200" y="732130"/>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Lucida Sans"/>
              <a:buNone/>
            </a:pPr>
            <a:r>
              <a:rPr lang="en-US"/>
              <a:t>Using one Pair for Each Transmission Direction with 10- and 100-Mbps Ethernet</a:t>
            </a:r>
            <a:br>
              <a:rPr lang="en-US"/>
            </a:br>
            <a:endParaRPr/>
          </a:p>
        </p:txBody>
      </p:sp>
      <p:pic>
        <p:nvPicPr>
          <p:cNvPr id="281" name="Google Shape;281;p51"/>
          <p:cNvPicPr preferRelativeResize="0"/>
          <p:nvPr/>
        </p:nvPicPr>
        <p:blipFill rotWithShape="1">
          <a:blip r:embed="rId3">
            <a:alphaModFix/>
          </a:blip>
          <a:srcRect/>
          <a:stretch/>
        </p:blipFill>
        <p:spPr>
          <a:xfrm>
            <a:off x="2133601" y="2286000"/>
            <a:ext cx="8440917" cy="397978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10Base-T and 100Base-T Straight-Through Cable Pinout</a:t>
            </a:r>
            <a:endParaRPr/>
          </a:p>
        </p:txBody>
      </p:sp>
      <p:pic>
        <p:nvPicPr>
          <p:cNvPr id="287" name="Google Shape;287;p52"/>
          <p:cNvPicPr preferRelativeResize="0"/>
          <p:nvPr/>
        </p:nvPicPr>
        <p:blipFill rotWithShape="1">
          <a:blip r:embed="rId3">
            <a:alphaModFix/>
          </a:blip>
          <a:srcRect/>
          <a:stretch/>
        </p:blipFill>
        <p:spPr>
          <a:xfrm>
            <a:off x="1752600" y="2438400"/>
            <a:ext cx="8297123" cy="274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Ethernet Straight-Through Cable Concept</a:t>
            </a:r>
            <a:endParaRPr/>
          </a:p>
        </p:txBody>
      </p:sp>
      <p:graphicFrame>
        <p:nvGraphicFramePr>
          <p:cNvPr id="293" name="Google Shape;293;p53"/>
          <p:cNvGraphicFramePr/>
          <p:nvPr/>
        </p:nvGraphicFramePr>
        <p:xfrm>
          <a:off x="3568383" y="2451100"/>
          <a:ext cx="3000000" cy="3000000"/>
        </p:xfrm>
        <a:graphic>
          <a:graphicData uri="http://schemas.openxmlformats.org/drawingml/2006/table">
            <a:tbl>
              <a:tblPr>
                <a:noFill/>
                <a:tableStyleId>{C601AA46-51A7-41FF-86AA-C1B9CD2E5B70}</a:tableStyleId>
              </a:tblPr>
              <a:tblGrid>
                <a:gridCol w="5055225">
                  <a:extLst>
                    <a:ext uri="{9D8B030D-6E8A-4147-A177-3AD203B41FA5}">
                      <a16:colId xmlns:a16="http://schemas.microsoft.com/office/drawing/2014/main" val="20000"/>
                    </a:ext>
                  </a:extLst>
                </a:gridCol>
              </a:tblGrid>
              <a:tr h="1955800">
                <a:tc>
                  <a:txBody>
                    <a:bodyPr/>
                    <a:lstStyle/>
                    <a:p>
                      <a:pPr marL="0" marR="0" lvl="0" indent="0" algn="l" rtl="0">
                        <a:lnSpc>
                          <a:spcPct val="133333"/>
                        </a:lnSpc>
                        <a:spcBef>
                          <a:spcPts val="0"/>
                        </a:spcBef>
                        <a:spcAft>
                          <a:spcPts val="0"/>
                        </a:spcAft>
                        <a:buNone/>
                      </a:pPr>
                      <a:endParaRPr sz="900" b="0" i="0" u="none" strike="noStrike">
                        <a:solidFill>
                          <a:srgbClr val="000000"/>
                        </a:solidFill>
                        <a:latin typeface="Arial"/>
                        <a:ea typeface="Arial"/>
                        <a:cs typeface="Arial"/>
                        <a:sym typeface="Arial"/>
                      </a:endParaRPr>
                    </a:p>
                  </a:txBody>
                  <a:tcPr marL="73025" marR="7302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94" name="Google Shape;294;p53"/>
          <p:cNvPicPr preferRelativeResize="0"/>
          <p:nvPr/>
        </p:nvPicPr>
        <p:blipFill rotWithShape="1">
          <a:blip r:embed="rId3">
            <a:alphaModFix/>
          </a:blip>
          <a:srcRect/>
          <a:stretch/>
        </p:blipFill>
        <p:spPr>
          <a:xfrm>
            <a:off x="1905000" y="2438400"/>
            <a:ext cx="8467424" cy="3276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Crossover Ethernet Cable</a:t>
            </a:r>
            <a:endParaRPr/>
          </a:p>
        </p:txBody>
      </p:sp>
      <p:pic>
        <p:nvPicPr>
          <p:cNvPr id="300" name="Google Shape;300;p54"/>
          <p:cNvPicPr preferRelativeResize="0"/>
          <p:nvPr/>
        </p:nvPicPr>
        <p:blipFill rotWithShape="1">
          <a:blip r:embed="rId3">
            <a:alphaModFix/>
          </a:blip>
          <a:srcRect/>
          <a:stretch/>
        </p:blipFill>
        <p:spPr>
          <a:xfrm>
            <a:off x="1752600" y="2209800"/>
            <a:ext cx="7280852" cy="4114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Typical Uses for Straight-Through and Crossover Ethernet Cables</a:t>
            </a:r>
            <a:endParaRPr/>
          </a:p>
        </p:txBody>
      </p:sp>
      <p:pic>
        <p:nvPicPr>
          <p:cNvPr id="306" name="Google Shape;306;p55"/>
          <p:cNvPicPr preferRelativeResize="0"/>
          <p:nvPr/>
        </p:nvPicPr>
        <p:blipFill rotWithShape="1">
          <a:blip r:embed="rId3">
            <a:alphaModFix/>
          </a:blip>
          <a:srcRect/>
          <a:stretch/>
        </p:blipFill>
        <p:spPr>
          <a:xfrm>
            <a:off x="1815738" y="2438400"/>
            <a:ext cx="8560524" cy="2743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Four-Pair Straight-Through Cable to 1000BASE-T</a:t>
            </a:r>
            <a:endParaRPr/>
          </a:p>
        </p:txBody>
      </p:sp>
      <p:pic>
        <p:nvPicPr>
          <p:cNvPr id="312" name="Google Shape;312;p56"/>
          <p:cNvPicPr preferRelativeResize="0">
            <a:picLocks noGrp="1"/>
          </p:cNvPicPr>
          <p:nvPr>
            <p:ph type="body" idx="1"/>
          </p:nvPr>
        </p:nvPicPr>
        <p:blipFill rotWithShape="1">
          <a:blip r:embed="rId3">
            <a:alphaModFix/>
          </a:blip>
          <a:srcRect/>
          <a:stretch/>
        </p:blipFill>
        <p:spPr>
          <a:xfrm>
            <a:off x="2743200" y="2819400"/>
            <a:ext cx="6431702" cy="2895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Commonly Used Ethernet Frame Format</a:t>
            </a:r>
            <a:endParaRPr/>
          </a:p>
        </p:txBody>
      </p:sp>
      <p:pic>
        <p:nvPicPr>
          <p:cNvPr id="318" name="Google Shape;318;p63"/>
          <p:cNvPicPr preferRelativeResize="0"/>
          <p:nvPr/>
        </p:nvPicPr>
        <p:blipFill rotWithShape="1">
          <a:blip r:embed="rId3">
            <a:alphaModFix/>
          </a:blip>
          <a:srcRect/>
          <a:stretch/>
        </p:blipFill>
        <p:spPr>
          <a:xfrm>
            <a:off x="1676400" y="2590800"/>
            <a:ext cx="8988553" cy="1371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64"/>
          <p:cNvSpPr txBox="1">
            <a:spLocks noGrp="1"/>
          </p:cNvSpPr>
          <p:nvPr>
            <p:ph type="title"/>
          </p:nvPr>
        </p:nvSpPr>
        <p:spPr>
          <a:xfrm>
            <a:off x="1981200" y="609600"/>
            <a:ext cx="8229600" cy="1066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Lucida Sans"/>
              <a:buNone/>
            </a:pPr>
            <a:r>
              <a:rPr lang="en-US"/>
              <a:t>IEEE 802.3 Ethernet Header and Trailer Fields</a:t>
            </a:r>
            <a:endParaRPr/>
          </a:p>
        </p:txBody>
      </p:sp>
      <p:graphicFrame>
        <p:nvGraphicFramePr>
          <p:cNvPr id="324" name="Google Shape;324;p64"/>
          <p:cNvGraphicFramePr/>
          <p:nvPr/>
        </p:nvGraphicFramePr>
        <p:xfrm>
          <a:off x="1676400" y="1698027"/>
          <a:ext cx="3000000" cy="3000000"/>
        </p:xfrm>
        <a:graphic>
          <a:graphicData uri="http://schemas.openxmlformats.org/drawingml/2006/table">
            <a:tbl>
              <a:tblPr firstRow="1" bandRow="1">
                <a:noFill/>
                <a:tableStyleId>{AF0C3DD7-B5E3-4673-9DC4-3F0B4CE32F5C}</a:tableStyleId>
              </a:tblPr>
              <a:tblGrid>
                <a:gridCol w="1782300">
                  <a:extLst>
                    <a:ext uri="{9D8B030D-6E8A-4147-A177-3AD203B41FA5}">
                      <a16:colId xmlns:a16="http://schemas.microsoft.com/office/drawing/2014/main" val="20000"/>
                    </a:ext>
                  </a:extLst>
                </a:gridCol>
                <a:gridCol w="1559525">
                  <a:extLst>
                    <a:ext uri="{9D8B030D-6E8A-4147-A177-3AD203B41FA5}">
                      <a16:colId xmlns:a16="http://schemas.microsoft.com/office/drawing/2014/main" val="20001"/>
                    </a:ext>
                  </a:extLst>
                </a:gridCol>
                <a:gridCol w="5421175">
                  <a:extLst>
                    <a:ext uri="{9D8B030D-6E8A-4147-A177-3AD203B41FA5}">
                      <a16:colId xmlns:a16="http://schemas.microsoft.com/office/drawing/2014/main" val="20002"/>
                    </a:ext>
                  </a:extLst>
                </a:gridCol>
              </a:tblGrid>
              <a:tr h="886200">
                <a:tc>
                  <a:txBody>
                    <a:bodyPr/>
                    <a:lstStyle/>
                    <a:p>
                      <a:pPr marL="0" marR="0" lvl="0" indent="0" algn="l" rtl="0">
                        <a:spcBef>
                          <a:spcPts val="0"/>
                        </a:spcBef>
                        <a:spcAft>
                          <a:spcPts val="0"/>
                        </a:spcAft>
                        <a:buNone/>
                      </a:pPr>
                      <a:r>
                        <a:rPr lang="en-US" sz="1800"/>
                        <a:t>Field</a:t>
                      </a:r>
                      <a:endParaRPr/>
                    </a:p>
                  </a:txBody>
                  <a:tcPr marL="91450" marR="91450" marT="45725" marB="45725"/>
                </a:tc>
                <a:tc>
                  <a:txBody>
                    <a:bodyPr/>
                    <a:lstStyle/>
                    <a:p>
                      <a:pPr marL="0" marR="0" lvl="0" indent="0" algn="l" rtl="0">
                        <a:spcBef>
                          <a:spcPts val="0"/>
                        </a:spcBef>
                        <a:spcAft>
                          <a:spcPts val="0"/>
                        </a:spcAft>
                        <a:buNone/>
                      </a:pPr>
                      <a:r>
                        <a:rPr lang="en-US" sz="1800"/>
                        <a:t>Field Length in Bytes</a:t>
                      </a:r>
                      <a:endParaRPr sz="1800"/>
                    </a:p>
                  </a:txBody>
                  <a:tcPr marL="91450" marR="91450" marT="45725" marB="45725"/>
                </a:tc>
                <a:tc>
                  <a:txBody>
                    <a:bodyPr/>
                    <a:lstStyle/>
                    <a:p>
                      <a:pPr marL="0" marR="0" lvl="0" indent="0" algn="l" rtl="0">
                        <a:spcBef>
                          <a:spcPts val="0"/>
                        </a:spcBef>
                        <a:spcAft>
                          <a:spcPts val="0"/>
                        </a:spcAft>
                        <a:buNone/>
                      </a:pPr>
                      <a:r>
                        <a:rPr lang="en-US" sz="1800"/>
                        <a:t>Description</a:t>
                      </a:r>
                      <a:endParaRPr/>
                    </a:p>
                  </a:txBody>
                  <a:tcPr marL="91450" marR="91450" marT="45725" marB="45725"/>
                </a:tc>
                <a:extLst>
                  <a:ext uri="{0D108BD9-81ED-4DB2-BD59-A6C34878D82A}">
                    <a16:rowId xmlns:a16="http://schemas.microsoft.com/office/drawing/2014/main" val="10000"/>
                  </a:ext>
                </a:extLst>
              </a:tr>
              <a:tr h="369250">
                <a:tc>
                  <a:txBody>
                    <a:bodyPr/>
                    <a:lstStyle/>
                    <a:p>
                      <a:pPr marL="0" marR="0" lvl="0" indent="0" algn="l" rtl="0">
                        <a:spcBef>
                          <a:spcPts val="0"/>
                        </a:spcBef>
                        <a:spcAft>
                          <a:spcPts val="0"/>
                        </a:spcAft>
                        <a:buNone/>
                      </a:pPr>
                      <a:r>
                        <a:rPr lang="en-US" sz="1400">
                          <a:latin typeface="Calibri"/>
                          <a:ea typeface="Calibri"/>
                          <a:cs typeface="Calibri"/>
                          <a:sym typeface="Calibri"/>
                        </a:rPr>
                        <a:t>Preamble</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7</a:t>
                      </a:r>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Synchronization</a:t>
                      </a:r>
                      <a:endParaRPr sz="1400">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600025">
                <a:tc>
                  <a:txBody>
                    <a:bodyPr/>
                    <a:lstStyle/>
                    <a:p>
                      <a:pPr marL="0" marR="0" lvl="0" indent="0" algn="l" rtl="0">
                        <a:spcBef>
                          <a:spcPts val="0"/>
                        </a:spcBef>
                        <a:spcAft>
                          <a:spcPts val="0"/>
                        </a:spcAft>
                        <a:buNone/>
                      </a:pPr>
                      <a:r>
                        <a:rPr lang="en-US" sz="1400">
                          <a:latin typeface="Calibri"/>
                          <a:ea typeface="Calibri"/>
                          <a:cs typeface="Calibri"/>
                          <a:sym typeface="Calibri"/>
                        </a:rPr>
                        <a:t>Start Frame Delimiter (SFD)</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1</a:t>
                      </a:r>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Signifies that the next byte begins the Destination MAC Address field.</a:t>
                      </a:r>
                      <a:endParaRPr sz="1400">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r h="600025">
                <a:tc>
                  <a:txBody>
                    <a:bodyPr/>
                    <a:lstStyle/>
                    <a:p>
                      <a:pPr marL="0" marR="0" lvl="0" indent="0" algn="l" rtl="0">
                        <a:spcBef>
                          <a:spcPts val="0"/>
                        </a:spcBef>
                        <a:spcAft>
                          <a:spcPts val="0"/>
                        </a:spcAft>
                        <a:buNone/>
                      </a:pPr>
                      <a:r>
                        <a:rPr lang="en-US" sz="1400">
                          <a:latin typeface="Calibri"/>
                          <a:ea typeface="Calibri"/>
                          <a:cs typeface="Calibri"/>
                          <a:sym typeface="Calibri"/>
                        </a:rPr>
                        <a:t>Destination MAC address</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6</a:t>
                      </a:r>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Identifies the intended recipient of this frame.</a:t>
                      </a:r>
                      <a:endParaRPr sz="1400">
                        <a:latin typeface="Calibri"/>
                        <a:ea typeface="Calibri"/>
                        <a:cs typeface="Calibri"/>
                        <a:sym typeface="Calibri"/>
                      </a:endParaRPr>
                    </a:p>
                  </a:txBody>
                  <a:tcPr marL="91450" marR="91450" marT="45725" marB="45725"/>
                </a:tc>
                <a:extLst>
                  <a:ext uri="{0D108BD9-81ED-4DB2-BD59-A6C34878D82A}">
                    <a16:rowId xmlns:a16="http://schemas.microsoft.com/office/drawing/2014/main" val="10003"/>
                  </a:ext>
                </a:extLst>
              </a:tr>
              <a:tr h="566800">
                <a:tc>
                  <a:txBody>
                    <a:bodyPr/>
                    <a:lstStyle/>
                    <a:p>
                      <a:pPr marL="0" marR="0" lvl="0" indent="0" algn="l" rtl="0">
                        <a:spcBef>
                          <a:spcPts val="0"/>
                        </a:spcBef>
                        <a:spcAft>
                          <a:spcPts val="0"/>
                        </a:spcAft>
                        <a:buNone/>
                      </a:pPr>
                      <a:r>
                        <a:rPr lang="en-US" sz="1400">
                          <a:latin typeface="Calibri"/>
                          <a:ea typeface="Calibri"/>
                          <a:cs typeface="Calibri"/>
                          <a:sym typeface="Calibri"/>
                        </a:rPr>
                        <a:t>Source MAC address</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6</a:t>
                      </a:r>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Identifies the sender of this frame.</a:t>
                      </a:r>
                      <a:endParaRPr sz="1400">
                        <a:latin typeface="Calibri"/>
                        <a:ea typeface="Calibri"/>
                        <a:cs typeface="Calibri"/>
                        <a:sym typeface="Calibri"/>
                      </a:endParaRPr>
                    </a:p>
                  </a:txBody>
                  <a:tcPr marL="91450" marR="91450" marT="45725" marB="45725"/>
                </a:tc>
                <a:extLst>
                  <a:ext uri="{0D108BD9-81ED-4DB2-BD59-A6C34878D82A}">
                    <a16:rowId xmlns:a16="http://schemas.microsoft.com/office/drawing/2014/main" val="10004"/>
                  </a:ext>
                </a:extLst>
              </a:tr>
              <a:tr h="600025">
                <a:tc>
                  <a:txBody>
                    <a:bodyPr/>
                    <a:lstStyle/>
                    <a:p>
                      <a:pPr marL="0" marR="0" lvl="0" indent="0" algn="l" rtl="0">
                        <a:spcBef>
                          <a:spcPts val="0"/>
                        </a:spcBef>
                        <a:spcAft>
                          <a:spcPts val="0"/>
                        </a:spcAft>
                        <a:buNone/>
                      </a:pPr>
                      <a:r>
                        <a:rPr lang="en-US" sz="1400">
                          <a:latin typeface="Calibri"/>
                          <a:ea typeface="Calibri"/>
                          <a:cs typeface="Calibri"/>
                          <a:sym typeface="Calibri"/>
                        </a:rPr>
                        <a:t>Type</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2</a:t>
                      </a:r>
                      <a:endParaRPr/>
                    </a:p>
                  </a:txBody>
                  <a:tcPr marL="91450" marR="91450" marT="45725" marB="45725"/>
                </a:tc>
                <a:tc>
                  <a:txBody>
                    <a:bodyPr/>
                    <a:lstStyle/>
                    <a:p>
                      <a:pPr marL="0" marR="0" lvl="0" indent="0" algn="l" rtl="0">
                        <a:lnSpc>
                          <a:spcPct val="85714"/>
                        </a:lnSpc>
                        <a:spcBef>
                          <a:spcPts val="0"/>
                        </a:spcBef>
                        <a:spcAft>
                          <a:spcPts val="0"/>
                        </a:spcAft>
                        <a:buNone/>
                      </a:pPr>
                      <a:endParaRPr sz="1400">
                        <a:solidFill>
                          <a:schemeClr val="dk1"/>
                        </a:solidFill>
                        <a:latin typeface="Calibri"/>
                        <a:ea typeface="Calibri"/>
                        <a:cs typeface="Calibri"/>
                        <a:sym typeface="Calibri"/>
                      </a:endParaRPr>
                    </a:p>
                    <a:p>
                      <a:pPr marL="0" marR="0" lvl="0" indent="0" algn="l" rtl="0">
                        <a:lnSpc>
                          <a:spcPct val="85714"/>
                        </a:lnSpc>
                        <a:spcBef>
                          <a:spcPts val="300"/>
                        </a:spcBef>
                        <a:spcAft>
                          <a:spcPts val="0"/>
                        </a:spcAft>
                        <a:buNone/>
                      </a:pPr>
                      <a:r>
                        <a:rPr lang="en-US" sz="1400">
                          <a:solidFill>
                            <a:schemeClr val="dk1"/>
                          </a:solidFill>
                          <a:latin typeface="Calibri"/>
                          <a:ea typeface="Calibri"/>
                          <a:cs typeface="Calibri"/>
                          <a:sym typeface="Calibri"/>
                        </a:rPr>
                        <a:t>Defines the type of protocol listed inside the frame; today, most</a:t>
                      </a:r>
                      <a:endParaRPr/>
                    </a:p>
                    <a:p>
                      <a:pPr marL="0" marR="0" lvl="0" indent="0" algn="l" rtl="0">
                        <a:lnSpc>
                          <a:spcPct val="85714"/>
                        </a:lnSpc>
                        <a:spcBef>
                          <a:spcPts val="300"/>
                        </a:spcBef>
                        <a:spcAft>
                          <a:spcPts val="0"/>
                        </a:spcAft>
                        <a:buNone/>
                      </a:pPr>
                      <a:r>
                        <a:rPr lang="en-US" sz="1400">
                          <a:solidFill>
                            <a:schemeClr val="dk1"/>
                          </a:solidFill>
                          <a:latin typeface="Calibri"/>
                          <a:ea typeface="Calibri"/>
                          <a:cs typeface="Calibri"/>
                          <a:sym typeface="Calibri"/>
                        </a:rPr>
                        <a:t>likely identifies IP Version 4 (IPv4) or IP Version 6 (IPv6).</a:t>
                      </a:r>
                      <a:endParaRPr/>
                    </a:p>
                  </a:txBody>
                  <a:tcPr marL="68575" marR="68575" marT="0" marB="0"/>
                </a:tc>
                <a:extLst>
                  <a:ext uri="{0D108BD9-81ED-4DB2-BD59-A6C34878D82A}">
                    <a16:rowId xmlns:a16="http://schemas.microsoft.com/office/drawing/2014/main" val="10005"/>
                  </a:ext>
                </a:extLst>
              </a:tr>
              <a:tr h="708975">
                <a:tc>
                  <a:txBody>
                    <a:bodyPr/>
                    <a:lstStyle/>
                    <a:p>
                      <a:pPr marL="0" marR="0" lvl="0" indent="0" algn="l" rtl="0">
                        <a:spcBef>
                          <a:spcPts val="0"/>
                        </a:spcBef>
                        <a:spcAft>
                          <a:spcPts val="0"/>
                        </a:spcAft>
                        <a:buNone/>
                      </a:pPr>
                      <a:r>
                        <a:rPr lang="en-US" sz="1400">
                          <a:latin typeface="Calibri"/>
                          <a:ea typeface="Calibri"/>
                          <a:cs typeface="Calibri"/>
                          <a:sym typeface="Calibri"/>
                        </a:rPr>
                        <a:t>Data and Pad</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46-1500</a:t>
                      </a:r>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Holds data from a higher layer, typically an L3PDU (usually an IPv4 or IPv6 packet). The sender adds padding to meet the minimum length requirement for this field (46 bytes).</a:t>
                      </a:r>
                      <a:endParaRPr sz="1400">
                        <a:latin typeface="Calibri"/>
                        <a:ea typeface="Calibri"/>
                        <a:cs typeface="Calibri"/>
                        <a:sym typeface="Calibri"/>
                      </a:endParaRPr>
                    </a:p>
                  </a:txBody>
                  <a:tcPr marL="91450" marR="91450" marT="45725" marB="45725"/>
                </a:tc>
                <a:extLst>
                  <a:ext uri="{0D108BD9-81ED-4DB2-BD59-A6C34878D82A}">
                    <a16:rowId xmlns:a16="http://schemas.microsoft.com/office/drawing/2014/main" val="10006"/>
                  </a:ext>
                </a:extLst>
              </a:tr>
              <a:tr h="600025">
                <a:tc>
                  <a:txBody>
                    <a:bodyPr/>
                    <a:lstStyle/>
                    <a:p>
                      <a:pPr marL="0" marR="0" lvl="0" indent="0" algn="l" rtl="0">
                        <a:spcBef>
                          <a:spcPts val="0"/>
                        </a:spcBef>
                        <a:spcAft>
                          <a:spcPts val="0"/>
                        </a:spcAft>
                        <a:buNone/>
                      </a:pPr>
                      <a:r>
                        <a:rPr lang="en-US" sz="1400">
                          <a:latin typeface="Calibri"/>
                          <a:ea typeface="Calibri"/>
                          <a:cs typeface="Calibri"/>
                          <a:sym typeface="Calibri"/>
                        </a:rPr>
                        <a:t>Frame Check Sequence (FCS)</a:t>
                      </a:r>
                      <a:endParaRPr/>
                    </a:p>
                  </a:txBody>
                  <a:tcPr marL="91450" marR="91450" marT="45725" marB="45725"/>
                </a:tc>
                <a:tc>
                  <a:txBody>
                    <a:bodyPr/>
                    <a:lstStyle/>
                    <a:p>
                      <a:pPr marL="0" marR="0" lvl="0" indent="0" algn="l" rtl="0">
                        <a:spcBef>
                          <a:spcPts val="0"/>
                        </a:spcBef>
                        <a:spcAft>
                          <a:spcPts val="0"/>
                        </a:spcAft>
                        <a:buNone/>
                      </a:pPr>
                      <a:r>
                        <a:rPr lang="en-US" sz="1400">
                          <a:latin typeface="Calibri"/>
                          <a:ea typeface="Calibri"/>
                          <a:cs typeface="Calibri"/>
                          <a:sym typeface="Calibri"/>
                        </a:rPr>
                        <a:t>4</a:t>
                      </a:r>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Provides a method for the receiving NIC to determine if the frame experienced transmission errors</a:t>
                      </a:r>
                      <a:endParaRPr sz="1400">
                        <a:latin typeface="Calibri"/>
                        <a:ea typeface="Calibri"/>
                        <a:cs typeface="Calibri"/>
                        <a:sym typeface="Calibri"/>
                      </a:endParaRPr>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Structure of Unicast Ethernet Addresses</a:t>
            </a:r>
            <a:endParaRPr/>
          </a:p>
        </p:txBody>
      </p:sp>
      <p:pic>
        <p:nvPicPr>
          <p:cNvPr id="330" name="Google Shape;330;p65"/>
          <p:cNvPicPr preferRelativeResize="0"/>
          <p:nvPr/>
        </p:nvPicPr>
        <p:blipFill rotWithShape="1">
          <a:blip r:embed="rId3">
            <a:alphaModFix/>
          </a:blip>
          <a:srcRect/>
          <a:stretch/>
        </p:blipFill>
        <p:spPr>
          <a:xfrm>
            <a:off x="1524000" y="2362200"/>
            <a:ext cx="9031052" cy="2590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66"/>
          <p:cNvSpPr txBox="1">
            <a:spLocks noGrp="1"/>
          </p:cNvSpPr>
          <p:nvPr>
            <p:ph type="title"/>
          </p:nvPr>
        </p:nvSpPr>
        <p:spPr>
          <a:xfrm>
            <a:off x="1905000" y="685800"/>
            <a:ext cx="8229600" cy="1066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Lucida Sans"/>
              <a:buNone/>
            </a:pPr>
            <a:r>
              <a:rPr lang="en-US"/>
              <a:t>LAN MAC Address Terminology and Features</a:t>
            </a:r>
            <a:endParaRPr/>
          </a:p>
        </p:txBody>
      </p:sp>
      <p:graphicFrame>
        <p:nvGraphicFramePr>
          <p:cNvPr id="336" name="Google Shape;336;p66"/>
          <p:cNvGraphicFramePr/>
          <p:nvPr/>
        </p:nvGraphicFramePr>
        <p:xfrm>
          <a:off x="1752600" y="2035628"/>
          <a:ext cx="3000000" cy="3000000"/>
        </p:xfrm>
        <a:graphic>
          <a:graphicData uri="http://schemas.openxmlformats.org/drawingml/2006/table">
            <a:tbl>
              <a:tblPr firstRow="1" bandRow="1">
                <a:noFill/>
                <a:tableStyleId>{AF0C3DD7-B5E3-4673-9DC4-3F0B4CE32F5C}</a:tableStyleId>
              </a:tblPr>
              <a:tblGrid>
                <a:gridCol w="2418075">
                  <a:extLst>
                    <a:ext uri="{9D8B030D-6E8A-4147-A177-3AD203B41FA5}">
                      <a16:colId xmlns:a16="http://schemas.microsoft.com/office/drawing/2014/main" val="20000"/>
                    </a:ext>
                  </a:extLst>
                </a:gridCol>
                <a:gridCol w="6116325">
                  <a:extLst>
                    <a:ext uri="{9D8B030D-6E8A-4147-A177-3AD203B41FA5}">
                      <a16:colId xmlns:a16="http://schemas.microsoft.com/office/drawing/2014/main" val="20001"/>
                    </a:ext>
                  </a:extLst>
                </a:gridCol>
              </a:tblGrid>
              <a:tr h="725125">
                <a:tc>
                  <a:txBody>
                    <a:bodyPr/>
                    <a:lstStyle/>
                    <a:p>
                      <a:pPr marL="0" marR="0" lvl="0" indent="0" algn="l" rtl="0">
                        <a:spcBef>
                          <a:spcPts val="0"/>
                        </a:spcBef>
                        <a:spcAft>
                          <a:spcPts val="0"/>
                        </a:spcAft>
                        <a:buNone/>
                      </a:pPr>
                      <a:r>
                        <a:rPr lang="en-US" sz="1800" b="1">
                          <a:solidFill>
                            <a:schemeClr val="lt1"/>
                          </a:solidFill>
                          <a:latin typeface="Calibri"/>
                          <a:ea typeface="Calibri"/>
                          <a:cs typeface="Calibri"/>
                          <a:sym typeface="Calibri"/>
                        </a:rPr>
                        <a:t>LAN Addressing Term or Feature</a:t>
                      </a:r>
                      <a:endParaRPr sz="1800"/>
                    </a:p>
                  </a:txBody>
                  <a:tcPr marL="91450" marR="91450" marT="45725" marB="45725"/>
                </a:tc>
                <a:tc>
                  <a:txBody>
                    <a:bodyPr/>
                    <a:lstStyle/>
                    <a:p>
                      <a:pPr marL="0" marR="0" lvl="0" indent="0" algn="l" rtl="0">
                        <a:spcBef>
                          <a:spcPts val="0"/>
                        </a:spcBef>
                        <a:spcAft>
                          <a:spcPts val="0"/>
                        </a:spcAft>
                        <a:buNone/>
                      </a:pPr>
                      <a:r>
                        <a:rPr lang="en-US" sz="1800" b="1">
                          <a:solidFill>
                            <a:schemeClr val="lt1"/>
                          </a:solidFill>
                          <a:latin typeface="Calibri"/>
                          <a:ea typeface="Calibri"/>
                          <a:cs typeface="Calibri"/>
                          <a:sym typeface="Calibri"/>
                        </a:rPr>
                        <a:t>Description</a:t>
                      </a:r>
                      <a:endParaRPr sz="1800"/>
                    </a:p>
                  </a:txBody>
                  <a:tcPr marL="91450" marR="91450" marT="45725" marB="45725"/>
                </a:tc>
                <a:extLst>
                  <a:ext uri="{0D108BD9-81ED-4DB2-BD59-A6C34878D82A}">
                    <a16:rowId xmlns:a16="http://schemas.microsoft.com/office/drawing/2014/main" val="10000"/>
                  </a:ext>
                </a:extLst>
              </a:tr>
              <a:tr h="72512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MAC</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Media Access Control. 802.3 (Ethernet) defines the MAC sublayer of IEEE Ethernet.</a:t>
                      </a:r>
                      <a:endParaRPr sz="1800"/>
                    </a:p>
                  </a:txBody>
                  <a:tcPr marL="91450" marR="91450" marT="45725" marB="45725"/>
                </a:tc>
                <a:extLst>
                  <a:ext uri="{0D108BD9-81ED-4DB2-BD59-A6C34878D82A}">
                    <a16:rowId xmlns:a16="http://schemas.microsoft.com/office/drawing/2014/main" val="10001"/>
                  </a:ext>
                </a:extLst>
              </a:tr>
              <a:tr h="72512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Ethernet address, NIC address, LAN address</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Other names often used instead of MAC address. These terms describe the 6-byte address of the LAN interface card.</a:t>
                      </a:r>
                      <a:endParaRPr sz="1800"/>
                    </a:p>
                  </a:txBody>
                  <a:tcPr marL="91450" marR="91450" marT="45725" marB="45725"/>
                </a:tc>
                <a:extLst>
                  <a:ext uri="{0D108BD9-81ED-4DB2-BD59-A6C34878D82A}">
                    <a16:rowId xmlns:a16="http://schemas.microsoft.com/office/drawing/2014/main" val="10002"/>
                  </a:ext>
                </a:extLst>
              </a:tr>
              <a:tr h="43507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Burned-in address</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6-byte address assigned by the vendor making the card.</a:t>
                      </a:r>
                      <a:endParaRPr sz="1800"/>
                    </a:p>
                  </a:txBody>
                  <a:tcPr marL="91450" marR="91450" marT="45725" marB="45725"/>
                </a:tc>
                <a:extLst>
                  <a:ext uri="{0D108BD9-81ED-4DB2-BD59-A6C34878D82A}">
                    <a16:rowId xmlns:a16="http://schemas.microsoft.com/office/drawing/2014/main" val="10003"/>
                  </a:ext>
                </a:extLst>
              </a:tr>
              <a:tr h="43507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Unicast address</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term for a MAC that represents a single LAN interface.</a:t>
                      </a:r>
                      <a:endParaRPr sz="1800"/>
                    </a:p>
                  </a:txBody>
                  <a:tcPr marL="91450" marR="91450" marT="45725" marB="45725"/>
                </a:tc>
                <a:extLst>
                  <a:ext uri="{0D108BD9-81ED-4DB2-BD59-A6C34878D82A}">
                    <a16:rowId xmlns:a16="http://schemas.microsoft.com/office/drawing/2014/main" val="10004"/>
                  </a:ext>
                </a:extLst>
              </a:tr>
              <a:tr h="72512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Broadcast address</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An address that means “all devices that reside on this LAN right now.”</a:t>
                      </a:r>
                      <a:endParaRPr sz="1800"/>
                    </a:p>
                  </a:txBody>
                  <a:tcPr marL="91450" marR="91450" marT="45725" marB="45725"/>
                </a:tc>
                <a:extLst>
                  <a:ext uri="{0D108BD9-81ED-4DB2-BD59-A6C34878D82A}">
                    <a16:rowId xmlns:a16="http://schemas.microsoft.com/office/drawing/2014/main" val="10005"/>
                  </a:ext>
                </a:extLst>
              </a:tr>
              <a:tr h="72512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Multicast address</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On Ethernet, a multicast address implies some subset of all devices currently on the Ethernet LAN.</a:t>
                      </a:r>
                      <a:endParaRPr sz="18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Lucida Sans"/>
              <a:buNone/>
            </a:pPr>
            <a:r>
              <a:rPr lang="en-US"/>
              <a:t>Use of Ethernet Type Field</a:t>
            </a:r>
            <a:endParaRPr/>
          </a:p>
        </p:txBody>
      </p:sp>
      <p:pic>
        <p:nvPicPr>
          <p:cNvPr id="342" name="Google Shape;342;p67"/>
          <p:cNvPicPr preferRelativeResize="0"/>
          <p:nvPr/>
        </p:nvPicPr>
        <p:blipFill rotWithShape="1">
          <a:blip r:embed="rId3">
            <a:alphaModFix/>
          </a:blip>
          <a:srcRect/>
          <a:stretch/>
        </p:blipFill>
        <p:spPr>
          <a:xfrm>
            <a:off x="1905000" y="2514600"/>
            <a:ext cx="8541754" cy="2971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71" descr="Shape&#10;&#10;Description automatically generated with low confidence"/>
          <p:cNvPicPr preferRelativeResize="0"/>
          <p:nvPr/>
        </p:nvPicPr>
        <p:blipFill rotWithShape="1">
          <a:blip r:embed="rId3">
            <a:alphaModFix/>
          </a:blip>
          <a:srcRect/>
          <a:stretch/>
        </p:blipFill>
        <p:spPr>
          <a:xfrm>
            <a:off x="3816099" y="1611713"/>
            <a:ext cx="4433236" cy="4433236"/>
          </a:xfrm>
          <a:prstGeom prst="rect">
            <a:avLst/>
          </a:prstGeom>
          <a:noFill/>
          <a:ln>
            <a:noFill/>
          </a:ln>
        </p:spPr>
      </p:pic>
    </p:spTree>
  </p:cSld>
  <p:clrMapOvr>
    <a:masterClrMapping/>
  </p:clrMapOvr>
</p:sld>
</file>

<file path=ppt/theme/theme1.xml><?xml version="1.0" encoding="utf-8"?>
<a:theme xmlns:a="http://schemas.openxmlformats.org/drawingml/2006/main" name="hhj_eaaa_clolo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b29427a-4ed3-4f0e-a3ff-ced1342f64ac}" enabled="0" method="" siteId="{1b29427a-4ed3-4f0e-a3ff-ced1342f64ac}" removed="1"/>
</clbl:labelList>
</file>

<file path=docProps/app.xml><?xml version="1.0" encoding="utf-8"?>
<Properties xmlns="http://schemas.openxmlformats.org/officeDocument/2006/extended-properties" xmlns:vt="http://schemas.openxmlformats.org/officeDocument/2006/docPropsVTypes">
  <TotalTime>2</TotalTime>
  <Words>1251</Words>
  <Application>Microsoft Office PowerPoint</Application>
  <PresentationFormat>Widescreen</PresentationFormat>
  <Paragraphs>154</Paragraphs>
  <Slides>40</Slides>
  <Notes>39</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hhj_eaaa_clolor</vt:lpstr>
      <vt:lpstr>CSIK netværksanalyse</vt:lpstr>
      <vt:lpstr>Agenda</vt:lpstr>
      <vt:lpstr>Hvorfor? (hvad siger studieordningen)</vt:lpstr>
      <vt:lpstr>Lidt genopfriskning</vt:lpstr>
      <vt:lpstr>TCP/IP Networking Model</vt:lpstr>
      <vt:lpstr>The Two TCP/IP Networking Models</vt:lpstr>
      <vt:lpstr>TCP/IP Architectural Model and Example Protocols</vt:lpstr>
      <vt:lpstr>HTTP</vt:lpstr>
      <vt:lpstr>HTTP (continued)</vt:lpstr>
      <vt:lpstr>TCP/IP Transport Layer</vt:lpstr>
      <vt:lpstr>Same-Layer and Adjacent-Layer Interaction</vt:lpstr>
      <vt:lpstr>Ethernet </vt:lpstr>
      <vt:lpstr>Five Steps of Data Encapsulation: TCP/IP </vt:lpstr>
      <vt:lpstr>Perspective on Encapsulation and “Data”</vt:lpstr>
      <vt:lpstr>OSI Networking Model</vt:lpstr>
      <vt:lpstr>OSI Reference Model Layer Definitions</vt:lpstr>
      <vt:lpstr>OSI Reference Model Layer Definitions (Continued </vt:lpstr>
      <vt:lpstr>OSI Reference Model Example Devices and Protocols</vt:lpstr>
      <vt:lpstr>OSI Encapsulation and Protocol Data Units</vt:lpstr>
      <vt:lpstr>PowerPoint Presentation</vt:lpstr>
      <vt:lpstr>PowerPoint Presentation</vt:lpstr>
      <vt:lpstr>Gruppedialog</vt:lpstr>
      <vt:lpstr>SOHO LAN</vt:lpstr>
      <vt:lpstr>Ethernet LAN Forwards a Data Link Frame Over Many Types of Links</vt:lpstr>
      <vt:lpstr>Creating One Electrical Circuit over One Pair to Send in One Direction</vt:lpstr>
      <vt:lpstr>C-ark</vt:lpstr>
      <vt:lpstr>Basic Components of an Ethernet Link</vt:lpstr>
      <vt:lpstr>RJ-45 Connectors and Ports</vt:lpstr>
      <vt:lpstr>Using one Pair for Each Transmission Direction with 10- and 100-Mbps Ethernet </vt:lpstr>
      <vt:lpstr>10Base-T and 100Base-T Straight-Through Cable Pinout</vt:lpstr>
      <vt:lpstr>Ethernet Straight-Through Cable Concept</vt:lpstr>
      <vt:lpstr>Crossover Ethernet Cable</vt:lpstr>
      <vt:lpstr>Typical Uses for Straight-Through and Crossover Ethernet Cables</vt:lpstr>
      <vt:lpstr>Four-Pair Straight-Through Cable to 1000BASE-T</vt:lpstr>
      <vt:lpstr>Commonly Used Ethernet Frame Format</vt:lpstr>
      <vt:lpstr>IEEE 802.3 Ethernet Header and Trailer Fields</vt:lpstr>
      <vt:lpstr>Structure of Unicast Ethernet Addresses</vt:lpstr>
      <vt:lpstr>LAN MAC Address Terminology and Features</vt:lpstr>
      <vt:lpstr>Use of Ethernet Type Field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Hans Henrik Jeppesen (adjunkt – hans@eaaa.dk)</dc:creator>
  <cp:lastModifiedBy>Hans Henrik Jeppesen (adjunkt – hans@eaaa.dk)</cp:lastModifiedBy>
  <cp:revision>2</cp:revision>
  <dcterms:created xsi:type="dcterms:W3CDTF">2021-10-30T19:04:40Z</dcterms:created>
  <dcterms:modified xsi:type="dcterms:W3CDTF">2025-11-18T08:08:27Z</dcterms:modified>
</cp:coreProperties>
</file>