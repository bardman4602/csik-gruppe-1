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1631" r:id="rId2"/>
    <p:sldId id="1657" r:id="rId3"/>
    <p:sldId id="1659" r:id="rId4"/>
    <p:sldId id="1746" r:id="rId5"/>
    <p:sldId id="1740" r:id="rId6"/>
    <p:sldId id="1738" r:id="rId7"/>
    <p:sldId id="1745" r:id="rId8"/>
    <p:sldId id="1623" r:id="rId9"/>
    <p:sldId id="1747" r:id="rId10"/>
    <p:sldId id="1748" r:id="rId11"/>
    <p:sldId id="1658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00D66C-2000-4FFF-9A14-1189345B3F78}" v="8" dt="2025-12-14T07:01:05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Elkær (adjunkt – frae@eaaa.dk)" userId="1b06cd64-16c4-48f5-b285-7568c937f1a0" providerId="ADAL" clId="{E9811E54-1FA8-43F7-AC43-A1164A70C0D5}"/>
    <pc:docChg chg="undo custSel addSld delSld modSld sldOrd">
      <pc:chgData name="Frank Elkær (adjunkt – frae@eaaa.dk)" userId="1b06cd64-16c4-48f5-b285-7568c937f1a0" providerId="ADAL" clId="{E9811E54-1FA8-43F7-AC43-A1164A70C0D5}" dt="2025-12-14T07:01:15.168" v="277" actId="20577"/>
      <pc:docMkLst>
        <pc:docMk/>
      </pc:docMkLst>
      <pc:sldChg chg="modSp mod ord">
        <pc:chgData name="Frank Elkær (adjunkt – frae@eaaa.dk)" userId="1b06cd64-16c4-48f5-b285-7568c937f1a0" providerId="ADAL" clId="{E9811E54-1FA8-43F7-AC43-A1164A70C0D5}" dt="2025-12-14T06:56:59.695" v="263"/>
        <pc:sldMkLst>
          <pc:docMk/>
          <pc:sldMk cId="2641242567" sldId="1623"/>
        </pc:sldMkLst>
        <pc:spChg chg="mod">
          <ac:chgData name="Frank Elkær (adjunkt – frae@eaaa.dk)" userId="1b06cd64-16c4-48f5-b285-7568c937f1a0" providerId="ADAL" clId="{E9811E54-1FA8-43F7-AC43-A1164A70C0D5}" dt="2025-12-10T16:05:45.349" v="246" actId="20577"/>
          <ac:spMkLst>
            <pc:docMk/>
            <pc:sldMk cId="2641242567" sldId="1623"/>
            <ac:spMk id="2" creationId="{FB66D061-CAB7-B9E6-3C7E-010DD8700571}"/>
          </ac:spMkLst>
        </pc:spChg>
        <pc:spChg chg="mod">
          <ac:chgData name="Frank Elkær (adjunkt – frae@eaaa.dk)" userId="1b06cd64-16c4-48f5-b285-7568c937f1a0" providerId="ADAL" clId="{E9811E54-1FA8-43F7-AC43-A1164A70C0D5}" dt="2025-12-10T16:08:07.892" v="257" actId="20577"/>
          <ac:spMkLst>
            <pc:docMk/>
            <pc:sldMk cId="2641242567" sldId="1623"/>
            <ac:spMk id="3" creationId="{B6CB1F54-7B65-9433-4A57-48CE77E666DC}"/>
          </ac:spMkLst>
        </pc:spChg>
      </pc:sldChg>
      <pc:sldChg chg="addSp delSp modSp mod">
        <pc:chgData name="Frank Elkær (adjunkt – frae@eaaa.dk)" userId="1b06cd64-16c4-48f5-b285-7568c937f1a0" providerId="ADAL" clId="{E9811E54-1FA8-43F7-AC43-A1164A70C0D5}" dt="2025-12-10T16:10:49.344" v="260"/>
        <pc:sldMkLst>
          <pc:docMk/>
          <pc:sldMk cId="3734052486" sldId="1657"/>
        </pc:sldMkLst>
        <pc:spChg chg="mod">
          <ac:chgData name="Frank Elkær (adjunkt – frae@eaaa.dk)" userId="1b06cd64-16c4-48f5-b285-7568c937f1a0" providerId="ADAL" clId="{E9811E54-1FA8-43F7-AC43-A1164A70C0D5}" dt="2025-12-10T16:05:15.457" v="241" actId="20577"/>
          <ac:spMkLst>
            <pc:docMk/>
            <pc:sldMk cId="3734052486" sldId="1657"/>
            <ac:spMk id="3" creationId="{335DE49E-3544-708B-0C34-93FFF946F8EE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2-10T16:05:55.088" v="252" actId="20577"/>
        <pc:sldMkLst>
          <pc:docMk/>
          <pc:sldMk cId="473473914" sldId="1658"/>
        </pc:sldMkLst>
        <pc:spChg chg="mod">
          <ac:chgData name="Frank Elkær (adjunkt – frae@eaaa.dk)" userId="1b06cd64-16c4-48f5-b285-7568c937f1a0" providerId="ADAL" clId="{E9811E54-1FA8-43F7-AC43-A1164A70C0D5}" dt="2025-12-10T16:05:55.088" v="252" actId="20577"/>
          <ac:spMkLst>
            <pc:docMk/>
            <pc:sldMk cId="473473914" sldId="1658"/>
            <ac:spMk id="2" creationId="{C3BE1491-D6B6-3238-37A6-DCB71499B9DC}"/>
          </ac:spMkLst>
        </pc:spChg>
      </pc:sldChg>
      <pc:sldChg chg="addSp delSp modSp add mod">
        <pc:chgData name="Frank Elkær (adjunkt – frae@eaaa.dk)" userId="1b06cd64-16c4-48f5-b285-7568c937f1a0" providerId="ADAL" clId="{E9811E54-1FA8-43F7-AC43-A1164A70C0D5}" dt="2025-12-10T16:03:57.122" v="198" actId="20577"/>
        <pc:sldMkLst>
          <pc:docMk/>
          <pc:sldMk cId="3511880678" sldId="1659"/>
        </pc:sldMkLst>
        <pc:spChg chg="mod">
          <ac:chgData name="Frank Elkær (adjunkt – frae@eaaa.dk)" userId="1b06cd64-16c4-48f5-b285-7568c937f1a0" providerId="ADAL" clId="{E9811E54-1FA8-43F7-AC43-A1164A70C0D5}" dt="2025-12-10T16:03:09.747" v="163" actId="20577"/>
          <ac:spMkLst>
            <pc:docMk/>
            <pc:sldMk cId="3511880678" sldId="1659"/>
            <ac:spMk id="2" creationId="{35753BAF-0C78-308C-6A91-AC186CCCB3D6}"/>
          </ac:spMkLst>
        </pc:spChg>
        <pc:spChg chg="mod">
          <ac:chgData name="Frank Elkær (adjunkt – frae@eaaa.dk)" userId="1b06cd64-16c4-48f5-b285-7568c937f1a0" providerId="ADAL" clId="{E9811E54-1FA8-43F7-AC43-A1164A70C0D5}" dt="2025-12-10T16:03:57.122" v="198" actId="20577"/>
          <ac:spMkLst>
            <pc:docMk/>
            <pc:sldMk cId="3511880678" sldId="1659"/>
            <ac:spMk id="3" creationId="{5E4B51C8-5331-23EE-A81F-DC4023629773}"/>
          </ac:spMkLst>
        </pc:spChg>
      </pc:sldChg>
      <pc:sldChg chg="add">
        <pc:chgData name="Frank Elkær (adjunkt – frae@eaaa.dk)" userId="1b06cd64-16c4-48f5-b285-7568c937f1a0" providerId="ADAL" clId="{E9811E54-1FA8-43F7-AC43-A1164A70C0D5}" dt="2025-12-14T06:54:31.609" v="261"/>
        <pc:sldMkLst>
          <pc:docMk/>
          <pc:sldMk cId="4174744260" sldId="1738"/>
        </pc:sldMkLst>
      </pc:sldChg>
      <pc:sldChg chg="add">
        <pc:chgData name="Frank Elkær (adjunkt – frae@eaaa.dk)" userId="1b06cd64-16c4-48f5-b285-7568c937f1a0" providerId="ADAL" clId="{E9811E54-1FA8-43F7-AC43-A1164A70C0D5}" dt="2025-12-14T06:54:31.609" v="261"/>
        <pc:sldMkLst>
          <pc:docMk/>
          <pc:sldMk cId="2955585481" sldId="1740"/>
        </pc:sldMkLst>
      </pc:sldChg>
      <pc:sldChg chg="add">
        <pc:chgData name="Frank Elkær (adjunkt – frae@eaaa.dk)" userId="1b06cd64-16c4-48f5-b285-7568c937f1a0" providerId="ADAL" clId="{E9811E54-1FA8-43F7-AC43-A1164A70C0D5}" dt="2025-12-14T06:54:31.609" v="261"/>
        <pc:sldMkLst>
          <pc:docMk/>
          <pc:sldMk cId="4144411428" sldId="1745"/>
        </pc:sldMkLst>
      </pc:sldChg>
      <pc:sldChg chg="add">
        <pc:chgData name="Frank Elkær (adjunkt – frae@eaaa.dk)" userId="1b06cd64-16c4-48f5-b285-7568c937f1a0" providerId="ADAL" clId="{E9811E54-1FA8-43F7-AC43-A1164A70C0D5}" dt="2025-12-14T06:54:31.609" v="261"/>
        <pc:sldMkLst>
          <pc:docMk/>
          <pc:sldMk cId="1361037030" sldId="1746"/>
        </pc:sldMkLst>
      </pc:sldChg>
      <pc:sldChg chg="modSp new mod">
        <pc:chgData name="Frank Elkær (adjunkt – frae@eaaa.dk)" userId="1b06cd64-16c4-48f5-b285-7568c937f1a0" providerId="ADAL" clId="{E9811E54-1FA8-43F7-AC43-A1164A70C0D5}" dt="2025-12-14T07:01:15.168" v="277" actId="20577"/>
        <pc:sldMkLst>
          <pc:docMk/>
          <pc:sldMk cId="1573843205" sldId="1747"/>
        </pc:sldMkLst>
        <pc:spChg chg="mod">
          <ac:chgData name="Frank Elkær (adjunkt – frae@eaaa.dk)" userId="1b06cd64-16c4-48f5-b285-7568c937f1a0" providerId="ADAL" clId="{E9811E54-1FA8-43F7-AC43-A1164A70C0D5}" dt="2025-12-14T07:01:15.168" v="277" actId="20577"/>
          <ac:spMkLst>
            <pc:docMk/>
            <pc:sldMk cId="1573843205" sldId="1747"/>
            <ac:spMk id="2" creationId="{5D23C5D0-6864-857B-9541-2DF09C10EE2B}"/>
          </ac:spMkLst>
        </pc:spChg>
        <pc:spChg chg="mod">
          <ac:chgData name="Frank Elkær (adjunkt – frae@eaaa.dk)" userId="1b06cd64-16c4-48f5-b285-7568c937f1a0" providerId="ADAL" clId="{E9811E54-1FA8-43F7-AC43-A1164A70C0D5}" dt="2025-12-14T06:58:30.533" v="273" actId="20577"/>
          <ac:spMkLst>
            <pc:docMk/>
            <pc:sldMk cId="1573843205" sldId="1747"/>
            <ac:spMk id="3" creationId="{125036A7-7EA4-032C-8FB8-E161291FD18E}"/>
          </ac:spMkLst>
        </pc:spChg>
      </pc:sldChg>
      <pc:sldChg chg="modSp new mod">
        <pc:chgData name="Frank Elkær (adjunkt – frae@eaaa.dk)" userId="1b06cd64-16c4-48f5-b285-7568c937f1a0" providerId="ADAL" clId="{E9811E54-1FA8-43F7-AC43-A1164A70C0D5}" dt="2025-12-14T07:01:09.643" v="276" actId="20577"/>
        <pc:sldMkLst>
          <pc:docMk/>
          <pc:sldMk cId="4184676814" sldId="1748"/>
        </pc:sldMkLst>
        <pc:spChg chg="mod">
          <ac:chgData name="Frank Elkær (adjunkt – frae@eaaa.dk)" userId="1b06cd64-16c4-48f5-b285-7568c937f1a0" providerId="ADAL" clId="{E9811E54-1FA8-43F7-AC43-A1164A70C0D5}" dt="2025-12-14T07:01:09.643" v="276" actId="20577"/>
          <ac:spMkLst>
            <pc:docMk/>
            <pc:sldMk cId="4184676814" sldId="1748"/>
            <ac:spMk id="2" creationId="{3F366FC6-FB7A-B5D0-8D24-E4490149944A}"/>
          </ac:spMkLst>
        </pc:spChg>
        <pc:spChg chg="mod">
          <ac:chgData name="Frank Elkær (adjunkt – frae@eaaa.dk)" userId="1b06cd64-16c4-48f5-b285-7568c937f1a0" providerId="ADAL" clId="{E9811E54-1FA8-43F7-AC43-A1164A70C0D5}" dt="2025-12-14T06:58:23.225" v="272" actId="1076"/>
          <ac:spMkLst>
            <pc:docMk/>
            <pc:sldMk cId="4184676814" sldId="1748"/>
            <ac:spMk id="3" creationId="{F86E2AAF-D426-9CD6-B485-54830F3D69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61494-AA64-47DC-8077-76B018ACFA8C}" type="datetimeFigureOut">
              <a:rPr lang="da-DK" smtClean="0"/>
              <a:t>13-12-2025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AA8CB-440C-4EBE-A8B1-F2CC22FB02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866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4FE9-C023-5CDD-E56A-8259C7D4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F18F1F8-F364-7495-05A9-BE98324B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08E3E81-3A6F-3547-3F54-126D60187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3D700DB-5E57-BAFA-C2F8-4D7D1EE95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3AE74-7E62-4D13-A6C2-81941875241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128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5269E-B422-4048-2EB5-29BE0651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68AE24D-2105-5F5E-BB14-F29BECDDB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3198468-77C6-BF5D-C811-E83842CA5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Lav gerne research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924128A-E1B0-DBBC-67F5-6CD71F246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A975DB-6D56-4E14-9012-334A06832C34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059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4DA4-F799-8384-734C-9FDE8E5E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49C0C26-0BA4-8865-CF37-30107F357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34002B3-F46B-1EC6-FA71-A9B28629E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Diskuter alle deres post </a:t>
            </a:r>
            <a:r>
              <a:rPr lang="da-DK" dirty="0" err="1"/>
              <a:t>its</a:t>
            </a:r>
            <a:r>
              <a:rPr lang="da-DK" dirty="0"/>
              <a:t> i forhold til Det agile manifest. Brug tavlen.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C16202-3ECB-99B7-F670-D117A0582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3AE74-7E62-4D13-A6C2-81941875241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33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2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11.png"/><Relationship Id="rId17" Type="http://schemas.openxmlformats.org/officeDocument/2006/relationships/image" Target="../media/image24.svg"/><Relationship Id="rId2" Type="http://schemas.openxmlformats.org/officeDocument/2006/relationships/image" Target="../media/image15.png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48528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97308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4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1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8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58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2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8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93732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63512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57326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02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9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23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1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94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35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30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4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96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68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675218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135395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5291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248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365489554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383512788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201076260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6443" y="5805264"/>
            <a:ext cx="12192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800" dirty="0"/>
              <a:t>               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1295360" y="1448736"/>
            <a:ext cx="96012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295360" y="548616"/>
            <a:ext cx="9601280" cy="9001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4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1295360" y="1718773"/>
            <a:ext cx="9601280" cy="39605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E6072851-7882-4178-8020-B91172F2D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6468" y="5907978"/>
            <a:ext cx="2228093" cy="8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052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sp>
        <p:nvSpPr>
          <p:cNvPr id="13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1412876"/>
            <a:ext cx="10274300" cy="4032250"/>
          </a:xfrm>
          <a:prstGeom prst="rect">
            <a:avLst/>
          </a:prstGeom>
        </p:spPr>
        <p:txBody>
          <a:bodyPr/>
          <a:lstStyle>
            <a:lvl1pPr marL="3429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sz="2000" b="0">
                <a:latin typeface="+mn-lt"/>
              </a:defRPr>
            </a:lvl1pPr>
            <a:lvl2pPr marL="8001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Skriv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>
          <a:xfrm>
            <a:off x="958853" y="333376"/>
            <a:ext cx="10274299" cy="8270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400" b="0" cap="all" spc="120" baseline="0"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  <p:pic>
        <p:nvPicPr>
          <p:cNvPr id="8" name="Logo, EAAA">
            <a:extLst>
              <a:ext uri="{FF2B5EF4-FFF2-40B4-BE49-F238E27FC236}">
                <a16:creationId xmlns:a16="http://schemas.microsoft.com/office/drawing/2014/main" id="{1A6A771D-5E91-46B6-86A5-D8470EF2A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038" y="5865182"/>
            <a:ext cx="2322374" cy="876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685980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604">
          <p15:clr>
            <a:srgbClr val="A4A3A4"/>
          </p15:clr>
        </p15:guide>
        <p15:guide id="2" pos="7076">
          <p15:clr>
            <a:srgbClr val="A4A3A4"/>
          </p15:clr>
        </p15:guide>
        <p15:guide id="3" orient="horz" pos="890">
          <p15:clr>
            <a:srgbClr val="A4A3A4"/>
          </p15:clr>
        </p15:guide>
        <p15:guide id="5" orient="horz" pos="3430">
          <p15:clr>
            <a:srgbClr val="A4A3A4"/>
          </p15:clr>
        </p15:guide>
        <p15:guide id="6" orient="horz" pos="73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384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33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dvanz.dk/blog/agile-manifesto-agilt-manifest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BB72-4537-AD6C-8AC7-048E0FB2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DD463-CD19-EC47-A64A-B96A375ADA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</p:spPr>
        <p:txBody>
          <a:bodyPr anchor="ctr">
            <a:normAutofit/>
          </a:bodyPr>
          <a:lstStyle/>
          <a:p>
            <a:r>
              <a:rPr lang="da-DK" dirty="0"/>
              <a:t>Forretningsforståelse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DF178F9-380A-0EBC-0780-C61837E98056}"/>
              </a:ext>
            </a:extLst>
          </p:cNvPr>
          <p:cNvSpPr txBox="1"/>
          <p:nvPr/>
        </p:nvSpPr>
        <p:spPr>
          <a:xfrm>
            <a:off x="2834824" y="3048351"/>
            <a:ext cx="4950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Modul </a:t>
            </a:r>
            <a:r>
              <a:rPr lang="da-DK" sz="2800" dirty="0">
                <a:solidFill>
                  <a:prstClr val="white"/>
                </a:solidFill>
                <a:latin typeface="Montserrat"/>
              </a:rPr>
              <a:t>15 A Opgaveløsning</a:t>
            </a:r>
            <a:endParaRPr kumimoji="0" lang="da-DK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20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DDD1-CEE3-83BC-92F1-165F67AF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35DE49E-3544-708B-0C34-93FFF946F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120809"/>
            <a:ext cx="5400000" cy="908391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Agenda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Opgave Agil kaos i COMTEC –Hold drøftelse (15 Min)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Gennemgang leverandørsikkerhed Skyhost. (20min)    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Gruppearbejde om løsninger på EAAA </a:t>
            </a:r>
            <a:r>
              <a:rPr lang="da-DK" sz="1800" dirty="0" err="1"/>
              <a:t>Robotics</a:t>
            </a:r>
            <a:r>
              <a:rPr lang="da-DK" sz="1800" dirty="0"/>
              <a:t> (60 min)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Gløgg og æbleskiver i pausen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Start på forandringsledelse</a:t>
            </a:r>
          </a:p>
          <a:p>
            <a:endParaRPr lang="da-DK" sz="1800" dirty="0"/>
          </a:p>
          <a:p>
            <a:pPr marL="514350" indent="-514350">
              <a:buFont typeface="+mj-lt"/>
              <a:buAutoNum type="arabicPeriod"/>
            </a:pPr>
            <a:endParaRPr lang="da-DK" sz="1800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45BD64B-FA1F-DBB3-DCFC-F1EAFDF1D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7">
            <a:extLst>
              <a:ext uri="{FF2B5EF4-FFF2-40B4-BE49-F238E27FC236}">
                <a16:creationId xmlns:a16="http://schemas.microsoft.com/office/drawing/2014/main" id="{D2093784-2564-D5CB-A768-B4167255E6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533" r="19533"/>
          <a:stretch>
            <a:fillRect/>
          </a:stretch>
        </p:blipFill>
        <p:spPr>
          <a:xfrm>
            <a:off x="-863599" y="750119"/>
            <a:ext cx="5675296" cy="5549081"/>
          </a:xfrm>
        </p:spPr>
      </p:pic>
    </p:spTree>
    <p:extLst>
      <p:ext uri="{BB962C8B-B14F-4D97-AF65-F5344CB8AC3E}">
        <p14:creationId xmlns:p14="http://schemas.microsoft.com/office/powerpoint/2010/main" val="373405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49B-95A7-3667-28C4-6E9BB8B4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53BAF-0C78-308C-6A91-AC186CCCB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Case Agil kaos i COMTEC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E4B51C8-5331-23EE-A81F-DC40236297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a-DK" dirty="0"/>
              <a:t>Diskussion i klassen (15 min)</a:t>
            </a:r>
          </a:p>
        </p:txBody>
      </p:sp>
    </p:spTree>
    <p:extLst>
      <p:ext uri="{BB962C8B-B14F-4D97-AF65-F5344CB8AC3E}">
        <p14:creationId xmlns:p14="http://schemas.microsoft.com/office/powerpoint/2010/main" val="351188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0B7D-AE40-A901-91B3-1E64EDE5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n person, der har forbindelse til et papir på en tabel, der er fyldt med Sticky Notes">
            <a:extLst>
              <a:ext uri="{FF2B5EF4-FFF2-40B4-BE49-F238E27FC236}">
                <a16:creationId xmlns:a16="http://schemas.microsoft.com/office/drawing/2014/main" id="{C553075D-8D55-44A9-2197-7CD376CA0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37" r="20829" b="-2"/>
          <a:stretch/>
        </p:blipFill>
        <p:spPr>
          <a:xfrm>
            <a:off x="-1" y="-1"/>
            <a:ext cx="2274571" cy="6858001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2BCAF06-2842-2EFD-C514-414241483B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3925" y="679759"/>
            <a:ext cx="10883265" cy="841357"/>
          </a:xfrm>
        </p:spPr>
        <p:txBody>
          <a:bodyPr anchor="ctr">
            <a:normAutofit/>
          </a:bodyPr>
          <a:lstStyle/>
          <a:p>
            <a:r>
              <a:rPr lang="da-DK" sz="2600" dirty="0"/>
              <a:t>Hjemmeopgave: Fra principper til agil praksis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D5A2D-7DF1-33E1-0FB5-6FC8DECF75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60320" y="1285413"/>
            <a:ext cx="9749789" cy="5808291"/>
          </a:xfrm>
        </p:spPr>
        <p:txBody>
          <a:bodyPr anchor="t">
            <a:normAutofit fontScale="62500" lnSpcReduction="20000"/>
          </a:bodyPr>
          <a:lstStyle/>
          <a:p>
            <a:pPr>
              <a:buNone/>
            </a:pPr>
            <a:r>
              <a:rPr lang="da-DK" sz="3600" dirty="0"/>
              <a:t>Formål: Overordnet forståelse af de 12 agile principper </a:t>
            </a:r>
          </a:p>
          <a:p>
            <a:pPr>
              <a:buNone/>
            </a:pPr>
            <a:r>
              <a:rPr lang="da-DK" sz="2900" b="1" dirty="0"/>
              <a:t>Case: Agil kaos i COMTEK</a:t>
            </a:r>
          </a:p>
          <a:p>
            <a:pPr>
              <a:buNone/>
            </a:pPr>
            <a:endParaRPr lang="da-DK" sz="2200" dirty="0"/>
          </a:p>
          <a:p>
            <a:pPr>
              <a:buNone/>
            </a:pPr>
            <a:r>
              <a:rPr lang="da-DK" sz="2500" b="1" dirty="0"/>
              <a:t>COMTEK er en softwarevirksomhed, der har besluttet at arbejde agilt, men deres første projekt er ved at falde fra hinanden. Teamet oplever følgende udfordringer:</a:t>
            </a:r>
          </a:p>
          <a:p>
            <a:pPr>
              <a:buNone/>
            </a:pPr>
            <a:endParaRPr lang="da-DK" sz="2500" b="1" dirty="0"/>
          </a:p>
          <a:p>
            <a:pPr>
              <a:buFont typeface="+mj-lt"/>
              <a:buAutoNum type="arabicPeriod"/>
            </a:pPr>
            <a:r>
              <a:rPr lang="da-DK" sz="2500" b="1" dirty="0">
                <a:latin typeface="+mn-lt"/>
              </a:rPr>
              <a:t>  Kravene ændrer sig konstant, og udviklerne er frustrerede.</a:t>
            </a:r>
          </a:p>
          <a:p>
            <a:pPr>
              <a:buFont typeface="+mj-lt"/>
              <a:buAutoNum type="arabicPeriod"/>
            </a:pPr>
            <a:r>
              <a:rPr lang="da-DK" sz="2500" b="1" dirty="0">
                <a:latin typeface="+mn-lt"/>
              </a:rPr>
              <a:t> Ledelsen vil have en detaljeret plan for det næste år.</a:t>
            </a:r>
          </a:p>
          <a:p>
            <a:pPr>
              <a:buFont typeface="+mj-lt"/>
              <a:buAutoNum type="arabicPeriod"/>
            </a:pPr>
            <a:r>
              <a:rPr lang="da-DK" sz="2500" b="1" dirty="0">
                <a:latin typeface="+mn-lt"/>
              </a:rPr>
              <a:t> Testning sker først til sidst, og der er mange fejl.</a:t>
            </a:r>
          </a:p>
          <a:p>
            <a:pPr marL="182563" indent="-182563">
              <a:buFont typeface="+mj-lt"/>
              <a:buAutoNum type="arabicPeriod"/>
            </a:pPr>
            <a:r>
              <a:rPr lang="da-DK" sz="2500" b="1" dirty="0">
                <a:latin typeface="+mn-lt"/>
              </a:rPr>
              <a:t>Teamet kommunikerer mest via e-mails og får sjældent feedback fra brugerne.</a:t>
            </a:r>
          </a:p>
          <a:p>
            <a:pPr>
              <a:buFont typeface="+mj-lt"/>
              <a:buAutoNum type="arabicPeriod"/>
            </a:pPr>
            <a:r>
              <a:rPr lang="da-DK" sz="2500" b="1" dirty="0">
                <a:latin typeface="+mn-lt"/>
              </a:rPr>
              <a:t> Medarbejdere føler sig overbebyrdede, og motivationen daler.</a:t>
            </a:r>
          </a:p>
          <a:p>
            <a:endParaRPr lang="da-DK" sz="2200" dirty="0">
              <a:latin typeface="+mn-lt"/>
            </a:endParaRPr>
          </a:p>
          <a:p>
            <a:r>
              <a:rPr lang="da-DK" sz="2500" b="1" dirty="0">
                <a:latin typeface="+mn-lt"/>
              </a:rPr>
              <a:t>Jeres opgave: (klargør </a:t>
            </a:r>
            <a:r>
              <a:rPr lang="da-DK" sz="2500" b="1">
                <a:latin typeface="+mn-lt"/>
              </a:rPr>
              <a:t>til diskussion)</a:t>
            </a:r>
            <a:endParaRPr lang="da-DK" sz="2500" b="1" dirty="0">
              <a:latin typeface="+mn-lt"/>
            </a:endParaRPr>
          </a:p>
          <a:p>
            <a:pPr>
              <a:buNone/>
            </a:pPr>
            <a:endParaRPr lang="da-DK" sz="2500" b="1" dirty="0">
              <a:latin typeface="+mn-lt"/>
            </a:endParaRPr>
          </a:p>
          <a:p>
            <a:pPr marL="182563" indent="-182563">
              <a:buFont typeface="+mj-lt"/>
              <a:buAutoNum type="arabicPeriod"/>
            </a:pPr>
            <a:r>
              <a:rPr lang="da-DK" sz="2500" b="1" dirty="0"/>
              <a:t>Identificér hvilke af de 12 agile principper, der ikke bliver fulgt i COMTEK.</a:t>
            </a:r>
            <a:endParaRPr lang="da-DK" sz="2500" dirty="0"/>
          </a:p>
          <a:p>
            <a:pPr>
              <a:buFont typeface="+mj-lt"/>
              <a:buAutoNum type="arabicPeriod"/>
            </a:pPr>
            <a:r>
              <a:rPr lang="da-DK" sz="2500" b="1" dirty="0"/>
              <a:t> Kom med forslag til forbedringer baseret på de agile principper.</a:t>
            </a:r>
            <a:endParaRPr lang="da-DK" sz="2500" b="1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da-DK" sz="2500" b="1" dirty="0">
                <a:solidFill>
                  <a:schemeClr val="accent6"/>
                </a:solidFill>
              </a:rPr>
              <a:t> Hvilke ændringer kan implementeres hurtigst?</a:t>
            </a:r>
          </a:p>
          <a:p>
            <a:pPr>
              <a:buFont typeface="+mj-lt"/>
              <a:buAutoNum type="arabicPeriod"/>
            </a:pPr>
            <a:r>
              <a:rPr lang="da-DK" sz="2500" b="1" dirty="0"/>
              <a:t> </a:t>
            </a:r>
            <a:r>
              <a:rPr lang="da-DK" sz="2500" b="1" dirty="0">
                <a:solidFill>
                  <a:schemeClr val="accent6"/>
                </a:solidFill>
              </a:rPr>
              <a:t>Hvad vil være den største udfordring ved at indføre agile principper i COMTEC?</a:t>
            </a:r>
          </a:p>
          <a:p>
            <a:pPr marL="0" indent="0">
              <a:buNone/>
            </a:pPr>
            <a:endParaRPr lang="da-DK" sz="1000" dirty="0"/>
          </a:p>
        </p:txBody>
      </p:sp>
    </p:spTree>
    <p:extLst>
      <p:ext uri="{BB962C8B-B14F-4D97-AF65-F5344CB8AC3E}">
        <p14:creationId xmlns:p14="http://schemas.microsoft.com/office/powerpoint/2010/main" val="1361037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B3EF9-34AB-3F16-1351-2E561FF5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2EEE8-08BA-B971-4D6E-1FE57C0F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det agile mindset?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4ED986-CEF3-CAA2-078F-4645CDEFEACD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85" y="2046610"/>
            <a:ext cx="10515600" cy="399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27FA98F-EE81-F350-5B29-A755C1F7F6F0}"/>
              </a:ext>
            </a:extLst>
          </p:cNvPr>
          <p:cNvSpPr/>
          <p:nvPr/>
        </p:nvSpPr>
        <p:spPr>
          <a:xfrm>
            <a:off x="0" y="1470213"/>
            <a:ext cx="7996518" cy="5029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5585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CC5D-CCD6-1030-3710-2041A819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12BB3548-821B-4F77-8635-E417A589D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46" y="1337521"/>
            <a:ext cx="6800340" cy="50275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7F2E1D4-976E-2A69-ECB6-B0A83B00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agile manifest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F61B645-46C2-2D8A-9623-239186FEDE02}"/>
              </a:ext>
            </a:extLst>
          </p:cNvPr>
          <p:cNvSpPr txBox="1"/>
          <p:nvPr/>
        </p:nvSpPr>
        <p:spPr>
          <a:xfrm>
            <a:off x="0" y="6365421"/>
            <a:ext cx="9824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4"/>
              </a:rPr>
              <a:t>Hvad er agile </a:t>
            </a:r>
            <a:r>
              <a:rPr lang="da-DK" dirty="0" err="1">
                <a:hlinkClick r:id="rId4"/>
              </a:rPr>
              <a:t>manifesto</a:t>
            </a:r>
            <a:r>
              <a:rPr lang="da-DK" dirty="0">
                <a:hlinkClick r:id="rId4"/>
              </a:rPr>
              <a:t>? Læs om betydningen af et agilt manifest her.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50501AE9-3D22-5CF4-ECFF-3EE70E2E4CE4}"/>
              </a:ext>
            </a:extLst>
          </p:cNvPr>
          <p:cNvSpPr txBox="1"/>
          <p:nvPr/>
        </p:nvSpPr>
        <p:spPr>
          <a:xfrm>
            <a:off x="10208186" y="6249647"/>
            <a:ext cx="12410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900" dirty="0"/>
              <a:t>Kilde: ADVANZ.DK</a:t>
            </a:r>
          </a:p>
        </p:txBody>
      </p:sp>
    </p:spTree>
    <p:extLst>
      <p:ext uri="{BB962C8B-B14F-4D97-AF65-F5344CB8AC3E}">
        <p14:creationId xmlns:p14="http://schemas.microsoft.com/office/powerpoint/2010/main" val="417474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D567-EA86-A7D8-2D75-C4F99171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B5B1F-0905-C37C-1D92-EDAFF413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12 agile principper</a:t>
            </a:r>
          </a:p>
        </p:txBody>
      </p:sp>
      <p:pic>
        <p:nvPicPr>
          <p:cNvPr id="1026" name="Picture 2" descr="The 12 Agile Manifesto principles and how to adopt them - LogRocket Blog">
            <a:extLst>
              <a:ext uri="{FF2B5EF4-FFF2-40B4-BE49-F238E27FC236}">
                <a16:creationId xmlns:a16="http://schemas.microsoft.com/office/drawing/2014/main" id="{75210262-47D6-1AA8-56E6-77FE985D3C49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4199" y="1487006"/>
            <a:ext cx="6270349" cy="470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41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Case Skyhost løsninger - leverandørsikkerhed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a-DK" dirty="0"/>
              <a:t>Vi ser præsentation af 2 løsninger (10 min.)</a:t>
            </a:r>
          </a:p>
          <a:p>
            <a:pPr marL="342900" indent="-342900">
              <a:buAutoNum type="arabicPeriod"/>
            </a:pPr>
            <a:r>
              <a:rPr lang="da-DK" dirty="0"/>
              <a:t>Kommentering af alle (10 </a:t>
            </a:r>
            <a:r>
              <a:rPr lang="da-DK"/>
              <a:t>min.)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4124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23C5D0-6864-857B-9541-2DF09C10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Case Skyhost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5036A7-7EA4-032C-8FB8-E161291FD1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b="1" dirty="0"/>
              <a:t>Baggrund</a:t>
            </a:r>
            <a:endParaRPr lang="da-DK" dirty="0"/>
          </a:p>
          <a:p>
            <a:r>
              <a:rPr lang="da-DK" sz="1200" dirty="0"/>
              <a:t>Din organisation anvender cloudleverandøren </a:t>
            </a:r>
            <a:r>
              <a:rPr lang="da-DK" sz="1200" b="1" dirty="0" err="1"/>
              <a:t>SkyHost</a:t>
            </a:r>
            <a:r>
              <a:rPr lang="da-DK" sz="1200" b="1" dirty="0"/>
              <a:t> Cloud Services</a:t>
            </a:r>
            <a:r>
              <a:rPr lang="da-DK" sz="1200" dirty="0"/>
              <a:t>, som leverer datalagring, backup og API-</a:t>
            </a:r>
            <a:r>
              <a:rPr lang="da-DK" sz="1200" dirty="0" err="1"/>
              <a:t>hosting</a:t>
            </a:r>
            <a:r>
              <a:rPr lang="da-DK" sz="1200" dirty="0"/>
              <a:t>. Du har fået udleveret følgende oplysninger om leverandøren. Din opgave er at foretage en kort, risikobaseret vurdering af leverandørens </a:t>
            </a:r>
            <a:r>
              <a:rPr lang="da-DK" sz="1200" dirty="0" err="1"/>
              <a:t>cybersikkerhed</a:t>
            </a:r>
            <a:r>
              <a:rPr lang="da-DK" sz="1200" dirty="0"/>
              <a:t>.</a:t>
            </a:r>
          </a:p>
          <a:p>
            <a:r>
              <a:rPr lang="da-DK" sz="1200" b="1" dirty="0"/>
              <a:t>Givne data om leverandøren (</a:t>
            </a:r>
            <a:r>
              <a:rPr lang="da-DK" sz="1200" b="1" dirty="0" err="1"/>
              <a:t>SkyHost</a:t>
            </a:r>
            <a:r>
              <a:rPr lang="da-DK" sz="1200" b="1" dirty="0"/>
              <a:t>)</a:t>
            </a:r>
            <a:endParaRPr lang="da-DK" sz="1200" dirty="0"/>
          </a:p>
          <a:p>
            <a:r>
              <a:rPr lang="da-DK" sz="1200" b="1" dirty="0"/>
              <a:t>Tekniske forhold</a:t>
            </a:r>
            <a:endParaRPr lang="da-DK" sz="1200" dirty="0"/>
          </a:p>
          <a:p>
            <a:pPr lvl="0"/>
            <a:r>
              <a:rPr lang="da-DK" sz="1200" dirty="0"/>
              <a:t>Kryptering i transit: TLS 1.2 (Se evt. krypterings niveau på datatilsynets hjemmeside)</a:t>
            </a:r>
          </a:p>
          <a:p>
            <a:pPr lvl="0"/>
            <a:r>
              <a:rPr lang="da-DK" sz="1200" dirty="0"/>
              <a:t>Kryptering i hvile: </a:t>
            </a:r>
            <a:r>
              <a:rPr lang="da-DK" sz="1200" i="1" dirty="0"/>
              <a:t>Ikke aktiveret som standard</a:t>
            </a:r>
            <a:endParaRPr lang="da-DK" sz="1200" dirty="0"/>
          </a:p>
          <a:p>
            <a:pPr lvl="0"/>
            <a:r>
              <a:rPr lang="da-DK" sz="1200" dirty="0"/>
              <a:t>Multifaktorlogin: Kun for administratorer</a:t>
            </a:r>
          </a:p>
          <a:p>
            <a:pPr lvl="0"/>
            <a:r>
              <a:rPr lang="da-DK" sz="1200" dirty="0"/>
              <a:t>Log-management: Logs opbevares i 30 dage</a:t>
            </a:r>
          </a:p>
          <a:p>
            <a:pPr lvl="0"/>
            <a:r>
              <a:rPr lang="da-DK" sz="1200" dirty="0"/>
              <a:t>Patchcyklus: Kritiske patches implementeres inden for 45 dage</a:t>
            </a:r>
          </a:p>
          <a:p>
            <a:r>
              <a:rPr lang="da-DK" sz="1200" b="1" dirty="0"/>
              <a:t>Organisatoriske forhold</a:t>
            </a:r>
            <a:endParaRPr lang="da-DK" sz="1200" dirty="0"/>
          </a:p>
          <a:p>
            <a:pPr lvl="0"/>
            <a:r>
              <a:rPr lang="da-DK" sz="1200" dirty="0"/>
              <a:t>Certificering: ISO 27001-certificeret</a:t>
            </a:r>
          </a:p>
          <a:p>
            <a:pPr lvl="0"/>
            <a:r>
              <a:rPr lang="da-DK" sz="1200" dirty="0"/>
              <a:t>SOC 2 Type II rapport: Ikke tilgængelig</a:t>
            </a:r>
          </a:p>
          <a:p>
            <a:pPr lvl="0"/>
            <a:r>
              <a:rPr lang="da-DK" sz="1200" dirty="0"/>
              <a:t>Underleverandører: 3 cloud datacentre i EU, men ingen fuld dokumentation tilgængelig</a:t>
            </a:r>
          </a:p>
          <a:p>
            <a:pPr lvl="0"/>
            <a:r>
              <a:rPr lang="da-DK" sz="1200" dirty="0"/>
              <a:t>Incident </a:t>
            </a:r>
            <a:r>
              <a:rPr lang="da-DK" sz="1200" dirty="0" err="1"/>
              <a:t>response</a:t>
            </a:r>
            <a:r>
              <a:rPr lang="da-DK" sz="1200" dirty="0"/>
              <a:t>: Lover at informere kunden inden for 72 timer</a:t>
            </a:r>
          </a:p>
          <a:p>
            <a:pPr lvl="0"/>
            <a:r>
              <a:rPr lang="da-DK" sz="1200" dirty="0"/>
              <a:t>Backup: Daglig backup, men ingen dokumenteret </a:t>
            </a:r>
            <a:r>
              <a:rPr lang="da-DK" sz="1200" dirty="0" err="1"/>
              <a:t>restore</a:t>
            </a:r>
            <a:r>
              <a:rPr lang="da-DK" sz="1200" dirty="0"/>
              <a:t>-test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7384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66FC6-FB7A-B5D0-8D24-E4490149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Case Skyhost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6E2AAF-D426-9CD6-B485-54830F3D69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28675" y="1588981"/>
            <a:ext cx="10515600" cy="4398291"/>
          </a:xfrm>
        </p:spPr>
        <p:txBody>
          <a:bodyPr/>
          <a:lstStyle/>
          <a:p>
            <a:r>
              <a:rPr lang="da-DK" sz="1200" b="1" dirty="0"/>
              <a:t>Adgang, roller og drift</a:t>
            </a:r>
            <a:endParaRPr lang="da-DK" sz="1200" dirty="0"/>
          </a:p>
          <a:p>
            <a:pPr lvl="0"/>
            <a:r>
              <a:rPr lang="da-DK" sz="1200" dirty="0"/>
              <a:t>Supportteam har permanent administratoradgang</a:t>
            </a:r>
          </a:p>
          <a:p>
            <a:pPr lvl="0"/>
            <a:r>
              <a:rPr lang="da-DK" sz="1200" dirty="0"/>
              <a:t>Ingen “</a:t>
            </a:r>
            <a:r>
              <a:rPr lang="da-DK" sz="1200" dirty="0" err="1"/>
              <a:t>least</a:t>
            </a:r>
            <a:r>
              <a:rPr lang="da-DK" sz="1200" dirty="0"/>
              <a:t> </a:t>
            </a:r>
            <a:r>
              <a:rPr lang="da-DK" sz="1200" dirty="0" err="1"/>
              <a:t>privilege</a:t>
            </a:r>
            <a:r>
              <a:rPr lang="da-DK" sz="1200" dirty="0"/>
              <a:t>”-praksis dokumenteret</a:t>
            </a:r>
          </a:p>
          <a:p>
            <a:pPr lvl="0"/>
            <a:r>
              <a:rPr lang="da-DK" sz="1200" dirty="0"/>
              <a:t>Ingen formel proces for </a:t>
            </a:r>
            <a:r>
              <a:rPr lang="da-DK" sz="1200" dirty="0" err="1"/>
              <a:t>offboarding</a:t>
            </a:r>
            <a:r>
              <a:rPr lang="da-DK" sz="1200" dirty="0"/>
              <a:t> af medarbejdere</a:t>
            </a:r>
          </a:p>
          <a:p>
            <a:pPr lvl="0"/>
            <a:r>
              <a:rPr lang="da-DK" sz="1200" dirty="0"/>
              <a:t>Ekstern penetrationstest: Sidste test gennemført for 18 måneder siden</a:t>
            </a:r>
          </a:p>
          <a:p>
            <a:br>
              <a:rPr lang="da-DK" sz="1200" dirty="0"/>
            </a:br>
            <a:endParaRPr lang="da-DK" sz="1200" dirty="0"/>
          </a:p>
          <a:p>
            <a:r>
              <a:rPr lang="da-DK" sz="1200" b="1" dirty="0"/>
              <a:t>Opgave 1: Identificér risici</a:t>
            </a:r>
            <a:endParaRPr lang="da-DK" sz="1200" dirty="0"/>
          </a:p>
          <a:p>
            <a:r>
              <a:rPr lang="da-DK" sz="1200" dirty="0"/>
              <a:t>Udpeg mindst </a:t>
            </a:r>
            <a:r>
              <a:rPr lang="da-DK" sz="1200" b="1" dirty="0"/>
              <a:t>5 konkrete </a:t>
            </a:r>
            <a:r>
              <a:rPr lang="da-DK" sz="1200" b="1" dirty="0" err="1"/>
              <a:t>cyberrisici</a:t>
            </a:r>
            <a:r>
              <a:rPr lang="da-DK" sz="1200" dirty="0"/>
              <a:t>, som din organisation udsættes for ved at bruge denne leverandør. Forklar kort:</a:t>
            </a:r>
          </a:p>
          <a:p>
            <a:pPr lvl="0"/>
            <a:r>
              <a:rPr lang="da-DK" sz="1200" b="1" dirty="0"/>
              <a:t>Hvorfor hver risiko eksisterer</a:t>
            </a:r>
            <a:endParaRPr lang="da-DK" sz="1200" dirty="0"/>
          </a:p>
          <a:p>
            <a:pPr lvl="0"/>
            <a:r>
              <a:rPr lang="da-DK" sz="1200" b="1" dirty="0"/>
              <a:t>Hvilken sandsynlighed og konsekvens (lav/middel/høj) du vurderer, den har</a:t>
            </a:r>
            <a:endParaRPr lang="da-DK" sz="1200" dirty="0"/>
          </a:p>
          <a:p>
            <a:br>
              <a:rPr lang="da-DK" sz="1200" dirty="0"/>
            </a:br>
            <a:endParaRPr lang="da-DK" sz="1200" dirty="0"/>
          </a:p>
          <a:p>
            <a:r>
              <a:rPr lang="da-DK" sz="1200" b="1" dirty="0"/>
              <a:t>Opgave 2: Forslag til forbedringer og krav</a:t>
            </a:r>
            <a:endParaRPr lang="da-DK" sz="1200" dirty="0"/>
          </a:p>
          <a:p>
            <a:r>
              <a:rPr lang="da-DK" sz="1200" dirty="0"/>
              <a:t>Angiv </a:t>
            </a:r>
            <a:r>
              <a:rPr lang="da-DK" sz="1200" b="1" dirty="0"/>
              <a:t>5 konkrete krav eller kontroller</a:t>
            </a:r>
            <a:r>
              <a:rPr lang="da-DK" sz="1200" dirty="0"/>
              <a:t>, du vil anbefale over for leverandøren. Det kan fx være:</a:t>
            </a:r>
          </a:p>
          <a:p>
            <a:pPr lvl="0"/>
            <a:r>
              <a:rPr lang="da-DK" sz="1200" dirty="0"/>
              <a:t>Kontraktkrav</a:t>
            </a:r>
          </a:p>
          <a:p>
            <a:pPr lvl="0"/>
            <a:r>
              <a:rPr lang="da-DK" sz="1200" dirty="0"/>
              <a:t>Tekniske kontroller (kryptering, MFA, segmentering)</a:t>
            </a:r>
          </a:p>
          <a:p>
            <a:pPr lvl="0"/>
            <a:r>
              <a:rPr lang="da-DK" sz="1200" dirty="0"/>
              <a:t>Organisatoriske kontroller (audit, rapportering)</a:t>
            </a:r>
          </a:p>
          <a:p>
            <a:pPr lvl="0"/>
            <a:r>
              <a:rPr lang="en-US" sz="1200" dirty="0" err="1"/>
              <a:t>Procesforbedringer</a:t>
            </a:r>
            <a:r>
              <a:rPr lang="en-US" sz="1200" dirty="0"/>
              <a:t> (patching, offboarding, backup-tests)</a:t>
            </a:r>
            <a:endParaRPr lang="da-DK" sz="1200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8467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BE1491-D6B6-3238-37A6-DCB71499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Case EAAA </a:t>
            </a:r>
            <a:r>
              <a:rPr lang="da-DK" dirty="0" err="1"/>
              <a:t>Robotics</a:t>
            </a:r>
            <a:r>
              <a:rPr lang="da-DK" dirty="0"/>
              <a:t> - opsamlingscase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160AC7-F44D-035B-7FA5-90B282293E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a-DK" dirty="0"/>
              <a:t>Drøft løsninger rundt om bordet.</a:t>
            </a:r>
          </a:p>
          <a:p>
            <a:r>
              <a:rPr lang="da-DK" dirty="0"/>
              <a:t> </a:t>
            </a:r>
          </a:p>
          <a:p>
            <a:pPr marL="1028700" lvl="1" indent="-342900">
              <a:buFont typeface="+mj-lt"/>
              <a:buAutoNum type="alphaUcPeriod"/>
            </a:pPr>
            <a:r>
              <a:rPr lang="da-DK" dirty="0"/>
              <a:t>I skriftes til at fortælle om jeres svar på et spørgsmål, og drøfter derefter jeres besvarelser 40 minutter. Noter </a:t>
            </a:r>
            <a:r>
              <a:rPr lang="da-DK" dirty="0" err="1"/>
              <a:t>spm</a:t>
            </a:r>
            <a:r>
              <a:rPr lang="da-DK" dirty="0"/>
              <a:t>. </a:t>
            </a:r>
            <a:r>
              <a:rPr lang="da-DK" dirty="0" err="1"/>
              <a:t>Ifm</a:t>
            </a:r>
            <a:r>
              <a:rPr lang="da-DK" dirty="0"/>
              <a:t> gennemgang. Den der har fødselsdag næste gang starter osv.</a:t>
            </a:r>
          </a:p>
          <a:p>
            <a:pPr lvl="1" indent="0">
              <a:buNone/>
            </a:pPr>
            <a:endParaRPr lang="da-DK" dirty="0"/>
          </a:p>
          <a:p>
            <a:pPr lvl="1" indent="0" defTabSz="1073150">
              <a:buNone/>
              <a:tabLst>
                <a:tab pos="893763" algn="l"/>
              </a:tabLst>
            </a:pPr>
            <a:r>
              <a:rPr lang="da-DK" dirty="0"/>
              <a:t>B.  Gennemgang af 2 besvarelse på klassen – hvor spørgsmål fra  				gruppegennemgang drøftes. 20 min.</a:t>
            </a:r>
          </a:p>
          <a:p>
            <a:pPr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73473914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skabelon uden indhold, dansk  -  Skrivebeskyttet" id="{363E73E2-7A7B-4952-AE8C-D447D376FA21}" vid="{CC501A65-03DF-4975-ACA4-2D32FFB8963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641</Words>
  <Application>Microsoft Office PowerPoint</Application>
  <PresentationFormat>Widescreen</PresentationFormat>
  <Paragraphs>82</Paragraphs>
  <Slides>11</Slides>
  <Notes>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6" baseType="lpstr">
      <vt:lpstr>Aptos</vt:lpstr>
      <vt:lpstr>Arial</vt:lpstr>
      <vt:lpstr>Lucida Sans</vt:lpstr>
      <vt:lpstr>Montserrat</vt:lpstr>
      <vt:lpstr>Erhvervsakademi Aarhus</vt:lpstr>
      <vt:lpstr>PowerPoint-præsentation</vt:lpstr>
      <vt:lpstr>PowerPoint-præsentation</vt:lpstr>
      <vt:lpstr>Case Agil kaos i COMTEC</vt:lpstr>
      <vt:lpstr>PowerPoint-præsentation</vt:lpstr>
      <vt:lpstr>Hvad er det agile mindset?</vt:lpstr>
      <vt:lpstr>Det agile manifest</vt:lpstr>
      <vt:lpstr>De 12 agile principper</vt:lpstr>
      <vt:lpstr>Case Skyhost løsninger - leverandørsikkerhed</vt:lpstr>
      <vt:lpstr>Case Skyhost</vt:lpstr>
      <vt:lpstr>Case Skyhost</vt:lpstr>
      <vt:lpstr>Case EAAA Robotics - opsamlingscase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Elkær (adjunkt – frae@eaaa.dk)</dc:creator>
  <cp:lastModifiedBy>Frank Elkær (adjunkt – frae@eaaa.dk)</cp:lastModifiedBy>
  <cp:revision>3</cp:revision>
  <dcterms:created xsi:type="dcterms:W3CDTF">2025-05-28T08:01:18Z</dcterms:created>
  <dcterms:modified xsi:type="dcterms:W3CDTF">2025-12-14T07:01:20Z</dcterms:modified>
</cp:coreProperties>
</file>